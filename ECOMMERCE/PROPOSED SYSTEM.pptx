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6" r:id="rId2"/>
    <p:sldId id="385" r:id="rId3"/>
    <p:sldId id="265" r:id="rId4"/>
    <p:sldId id="279" r:id="rId5"/>
    <p:sldId id="266" r:id="rId6"/>
    <p:sldId id="267" r:id="rId7"/>
    <p:sldId id="268" r:id="rId8"/>
    <p:sldId id="278" r:id="rId9"/>
    <p:sldId id="282" r:id="rId10"/>
    <p:sldId id="283" r:id="rId11"/>
    <p:sldId id="277" r:id="rId12"/>
    <p:sldId id="276" r:id="rId13"/>
    <p:sldId id="280" r:id="rId14"/>
    <p:sldId id="270" r:id="rId15"/>
    <p:sldId id="284" r:id="rId16"/>
    <p:sldId id="271" r:id="rId17"/>
    <p:sldId id="269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8" r:id="rId40"/>
    <p:sldId id="310" r:id="rId41"/>
    <p:sldId id="319" r:id="rId42"/>
    <p:sldId id="320" r:id="rId43"/>
    <p:sldId id="321" r:id="rId44"/>
    <p:sldId id="309" r:id="rId45"/>
    <p:sldId id="260" r:id="rId46"/>
    <p:sldId id="258" r:id="rId47"/>
    <p:sldId id="262" r:id="rId48"/>
    <p:sldId id="261" r:id="rId49"/>
    <p:sldId id="263" r:id="rId50"/>
    <p:sldId id="306" r:id="rId51"/>
    <p:sldId id="264" r:id="rId52"/>
    <p:sldId id="307" r:id="rId53"/>
    <p:sldId id="314" r:id="rId54"/>
    <p:sldId id="315" r:id="rId55"/>
    <p:sldId id="316" r:id="rId56"/>
    <p:sldId id="347" r:id="rId57"/>
    <p:sldId id="348" r:id="rId58"/>
    <p:sldId id="350" r:id="rId59"/>
    <p:sldId id="351" r:id="rId60"/>
    <p:sldId id="371" r:id="rId61"/>
    <p:sldId id="372" r:id="rId62"/>
    <p:sldId id="373" r:id="rId63"/>
    <p:sldId id="374" r:id="rId64"/>
    <p:sldId id="375" r:id="rId65"/>
    <p:sldId id="272" r:id="rId66"/>
    <p:sldId id="355" r:id="rId67"/>
    <p:sldId id="356" r:id="rId68"/>
    <p:sldId id="376" r:id="rId69"/>
    <p:sldId id="357" r:id="rId70"/>
    <p:sldId id="358" r:id="rId71"/>
    <p:sldId id="377" r:id="rId72"/>
    <p:sldId id="378" r:id="rId73"/>
    <p:sldId id="379" r:id="rId74"/>
    <p:sldId id="380" r:id="rId75"/>
    <p:sldId id="281" r:id="rId76"/>
    <p:sldId id="381" r:id="rId77"/>
    <p:sldId id="361" r:id="rId78"/>
    <p:sldId id="382" r:id="rId79"/>
    <p:sldId id="362" r:id="rId80"/>
    <p:sldId id="383" r:id="rId81"/>
    <p:sldId id="365" r:id="rId82"/>
    <p:sldId id="366" r:id="rId83"/>
    <p:sldId id="384" r:id="rId84"/>
    <p:sldId id="367" r:id="rId85"/>
    <p:sldId id="391" r:id="rId86"/>
    <p:sldId id="386" r:id="rId87"/>
    <p:sldId id="387" r:id="rId88"/>
    <p:sldId id="388" r:id="rId89"/>
    <p:sldId id="389" r:id="rId90"/>
    <p:sldId id="390" r:id="rId91"/>
    <p:sldId id="393" r:id="rId92"/>
    <p:sldId id="392" r:id="rId93"/>
    <p:sldId id="394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3825" autoAdjust="0"/>
  </p:normalViewPr>
  <p:slideViewPr>
    <p:cSldViewPr snapToGrid="0">
      <p:cViewPr varScale="1">
        <p:scale>
          <a:sx n="71" d="100"/>
          <a:sy n="71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8A9A6-6D29-9B4A-8D06-CFE831917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702E4-D096-CEB0-775F-2D8F8309D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49F9C-1E46-9DD5-D3E3-DBE29A03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84F1-76A4-DB01-BD21-C095AC63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5D8BF-82D3-CC17-041E-88AA371E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86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0777-28E5-91F2-63AA-0FD97E65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59289-4DF2-6030-E159-96941C0DD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B1F10-30AA-F8D0-F1C1-9101BACA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FF64F-BA8F-401D-0BF7-CAF5EDAA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161CD-472B-05D6-E049-2C1A44D2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048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8522-CD24-EE6F-70BD-C02DBE6F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B4B86-C246-8CF5-D9D5-3143CAE9C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16A5-0E3B-6BDB-2402-62A2512A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DA900-4307-CE58-4277-BD997318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2210F-AB52-DD35-00A5-93A04B14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40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CADD-2DDC-F51D-5246-F9EA07F0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E5E0-4C7D-8468-D946-415E56260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0D3E3-BCEF-D23C-D4E6-24C5B10A5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88AF6-12F5-FC79-7EB7-821E9C17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FE57B-6F23-77ED-B96A-AF248341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27006-59D6-3756-5C14-F447E497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76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57EB-66B8-D0DF-A345-67BDE138A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2CDED-87A0-97CE-CA99-DEBD42BB4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407B4-D427-500D-3500-FF925E663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DE55E5-183A-5399-6DEA-7713A5EEA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24541-7840-A070-33F8-1A74F66E5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F3F5D7-E029-F75E-03FB-C45862E7D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7EA02-25F1-F333-ED80-1EA4DE0A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06183-01D8-0B5A-220F-7D96CF95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65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6B67-9A2F-BFDF-6FDD-D1C1473F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AC926-3C44-6A3A-32AA-DEB24138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ACF4CA-D7EB-0C61-5F99-B4CE314E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F71DB-3228-7FAD-4023-8CA5D14A6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55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55478-6A35-F61B-7CD4-3A577990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B66FA-0A67-47B0-B533-EC899919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04371-2F4C-55AE-5606-C433CE3E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49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F81D-3AAC-6556-DEE1-938B33DA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311E0-F3AB-F568-474A-1E21ADF8E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2A15E-CE44-A95C-3F7B-482EC6961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C24A2-CCA2-07B1-3331-FF153BBA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0B541-BFB6-7A5B-C6F4-78C236D7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93573-3459-5F04-67F0-1B2B733B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073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4AA6-C74A-2155-934B-001F36D6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C24DE-22EA-5929-8B1E-8BD921693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19069-E1A7-6C92-325E-AC7101D13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0B723-30E6-729E-95DA-2FFC8203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CD032-795A-11B1-1776-F919B68C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DE53C-405F-1311-A112-C911CC94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67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CBF5-4BFB-E878-1913-E4CC6BE0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40A24-1DE4-A86B-D41F-F3DC07FE5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A981A-650C-23AA-6520-363779EC1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92145-925D-9787-47A9-A8D8864F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935A7-0AFF-422B-ADB6-86A1FC9C9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28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A734C-A1B7-172C-27CB-BF84E65AB5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F2AFA-075A-74CB-6FFC-29C2A947C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F9B97-AEE3-18E6-589C-AD65287C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DBE49-4ADA-0B88-977E-F6CE44904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CEBEB-7367-03E3-3400-70DCF628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916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E65FF-BCC3-F1AC-09C8-DBAE1071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F8CC8-A9B8-79E1-F646-09D870D8C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783B9-BFBF-5D9E-0162-879455B4E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B9C47-CA75-4FC2-8870-121ED7095EC7}" type="datetimeFigureOut">
              <a:rPr lang="en-IN" smtClean="0"/>
              <a:t>12-04-2024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0062-77F1-F24E-F0A6-EEBDCC59F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536EC-A107-6ABD-BC66-0EC226472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8357B-82C9-4896-9BFB-C3DF9AE9A9D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28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A9B35E-6712-0E81-B6C8-E02BBADC4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IN" sz="2800" b="1" u="sng" dirty="0">
                <a:solidFill>
                  <a:srgbClr val="000000"/>
                </a:solidFill>
                <a:effectLst/>
                <a:latin typeface="Alike"/>
              </a:rPr>
              <a:t>PRESENTING</a:t>
            </a:r>
          </a:p>
          <a:p>
            <a:endParaRPr lang="en-US" sz="2000" b="0" i="0" dirty="0">
              <a:solidFill>
                <a:srgbClr val="000000"/>
              </a:solidFill>
              <a:effectLst/>
              <a:latin typeface="Akaya Telivigala"/>
            </a:endParaRPr>
          </a:p>
          <a:p>
            <a:pPr fontAlgn="base"/>
            <a:r>
              <a:rPr lang="en-US" sz="1600" b="1" i="0" dirty="0">
                <a:solidFill>
                  <a:srgbClr val="000000"/>
                </a:solidFill>
                <a:effectLst/>
                <a:latin typeface="Akaya Telivigala"/>
              </a:rPr>
              <a:t>CASE STUDY OF PROPOSED SYSTEM</a:t>
            </a:r>
            <a:endParaRPr lang="en-US" sz="1600" dirty="0">
              <a:solidFill>
                <a:srgbClr val="000000"/>
              </a:solidFill>
              <a:latin typeface="Bellefair"/>
            </a:endParaRPr>
          </a:p>
          <a:p>
            <a:pPr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Bellefair"/>
              </a:rPr>
              <a:t>BY GROUP NO.2</a:t>
            </a:r>
          </a:p>
          <a:p>
            <a:pPr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Alike"/>
              </a:rPr>
              <a:t>PRESENTING </a:t>
            </a:r>
          </a:p>
          <a:p>
            <a:pPr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Baloo Chettan 2"/>
              </a:rPr>
              <a:t>TO</a:t>
            </a:r>
          </a:p>
          <a:p>
            <a:pPr rtl="0" fontAlgn="base"/>
            <a:r>
              <a:rPr lang="en-US" sz="1600" b="0" i="0" dirty="0">
                <a:solidFill>
                  <a:srgbClr val="000000"/>
                </a:solidFill>
                <a:effectLst/>
                <a:latin typeface="Calistoga"/>
              </a:rPr>
              <a:t>B.P.C.C.S</a:t>
            </a:r>
          </a:p>
          <a:p>
            <a:r>
              <a:rPr lang="en-IN" sz="1600" b="1" i="0" cap="all" dirty="0">
                <a:solidFill>
                  <a:srgbClr val="000000"/>
                </a:solidFill>
                <a:effectLst/>
                <a:latin typeface="Alice"/>
              </a:rPr>
              <a:t>GANDHINAGAR</a:t>
            </a:r>
            <a:endParaRPr lang="en-IN" dirty="0"/>
          </a:p>
        </p:txBody>
      </p:sp>
      <p:graphicFrame>
        <p:nvGraphicFramePr>
          <p:cNvPr id="2" name="Content Placeholder 5">
            <a:extLst>
              <a:ext uri="{FF2B5EF4-FFF2-40B4-BE49-F238E27FC236}">
                <a16:creationId xmlns:a16="http://schemas.microsoft.com/office/drawing/2014/main" id="{FC1C1144-836F-F0D5-7224-1561D12B34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9566149"/>
              </p:ext>
            </p:extLst>
          </p:nvPr>
        </p:nvGraphicFramePr>
        <p:xfrm>
          <a:off x="1152523" y="3314696"/>
          <a:ext cx="9977440" cy="332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4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43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6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SR</a:t>
                      </a:r>
                      <a:r>
                        <a:rPr lang="en-IN" sz="1100" dirty="0">
                          <a:effectLst/>
                        </a:rPr>
                        <a:t>_</a:t>
                      </a:r>
                      <a:r>
                        <a:rPr lang="en-IN" sz="1400" dirty="0">
                          <a:effectLst/>
                        </a:rPr>
                        <a:t>NO.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ENROLLMENT_</a:t>
                      </a:r>
                      <a:r>
                        <a:rPr lang="en-IN" sz="1100" dirty="0">
                          <a:effectLst/>
                        </a:rPr>
                        <a:t> </a:t>
                      </a:r>
                      <a:r>
                        <a:rPr lang="en-IN" sz="1400" dirty="0">
                          <a:effectLst/>
                        </a:rPr>
                        <a:t>NO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NAME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ROLL_NO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6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1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21BCA04024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US" sz="1400" dirty="0">
                          <a:effectLst/>
                        </a:rPr>
                        <a:t>BHATT KISHAN RAJESHBHAI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21F002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5196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2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US" sz="1400" dirty="0">
                          <a:effectLst/>
                        </a:rPr>
                        <a:t>21BCA04182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US" sz="1400" dirty="0">
                          <a:effectLst/>
                        </a:rPr>
                        <a:t>PARMAR PRATHAMKUMAR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US" sz="1400" dirty="0">
                          <a:effectLst/>
                        </a:rPr>
                        <a:t>21F028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2115063"/>
                  </a:ext>
                </a:extLst>
              </a:tr>
              <a:tr h="5900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3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US" sz="1400" dirty="0">
                          <a:effectLst/>
                        </a:rPr>
                        <a:t>21BCA04348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US" sz="1400" dirty="0">
                          <a:effectLst/>
                        </a:rPr>
                        <a:t>PATELVISHABEN</a:t>
                      </a:r>
                      <a:r>
                        <a:rPr lang="en-IN" sz="110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PRANBHAI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US" sz="1400" dirty="0">
                          <a:effectLst/>
                        </a:rPr>
                        <a:t>21F050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0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>
                          <a:effectLst/>
                        </a:rPr>
                        <a:t>21BCA04349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US" sz="1400" dirty="0">
                          <a:effectLst/>
                        </a:rPr>
                        <a:t>PATEL VISHW BHAVESHKUMAR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21F051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5714642"/>
                  </a:ext>
                </a:extLst>
              </a:tr>
              <a:tr h="5900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>
                          <a:effectLst/>
                        </a:rPr>
                        <a:t>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>
                          <a:effectLst/>
                        </a:rPr>
                        <a:t>21BCA04372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US" sz="1400" dirty="0">
                          <a:effectLst/>
                        </a:rPr>
                        <a:t>PRAJAPATI KULDIP BHARATBHAI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2133600" algn="l"/>
                        </a:tabLst>
                      </a:pPr>
                      <a:r>
                        <a:rPr lang="en-IN" sz="1400" dirty="0">
                          <a:effectLst/>
                        </a:rPr>
                        <a:t>21F053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4448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5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D15E061-614F-3E55-7257-B54035A22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454933"/>
              </p:ext>
            </p:extLst>
          </p:nvPr>
        </p:nvGraphicFramePr>
        <p:xfrm>
          <a:off x="0" y="1383832"/>
          <a:ext cx="12204000" cy="547416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19298">
                  <a:extLst>
                    <a:ext uri="{9D8B030D-6E8A-4147-A177-3AD203B41FA5}">
                      <a16:colId xmlns:a16="http://schemas.microsoft.com/office/drawing/2014/main" val="2369340044"/>
                    </a:ext>
                  </a:extLst>
                </a:gridCol>
                <a:gridCol w="11084702">
                  <a:extLst>
                    <a:ext uri="{9D8B030D-6E8A-4147-A177-3AD203B41FA5}">
                      <a16:colId xmlns:a16="http://schemas.microsoft.com/office/drawing/2014/main" val="1742241793"/>
                    </a:ext>
                  </a:extLst>
                </a:gridCol>
              </a:tblGrid>
              <a:tr h="43031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SR NO.</a:t>
                      </a:r>
                      <a:endParaRPr lang="en-IN" sz="16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en-IN" sz="16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7568"/>
                  </a:ext>
                </a:extLst>
              </a:tr>
              <a:tr h="4694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59057"/>
                  </a:ext>
                </a:extLst>
              </a:tr>
              <a:tr h="469431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779136"/>
                  </a:ext>
                </a:extLst>
              </a:tr>
              <a:tr h="469431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Logo Tagline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74616"/>
                  </a:ext>
                </a:extLst>
              </a:tr>
              <a:tr h="469431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Entities (Users -All)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70208"/>
                  </a:ext>
                </a:extLst>
              </a:tr>
              <a:tr h="4694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of each Entities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800246"/>
                  </a:ext>
                </a:extLst>
              </a:tr>
              <a:tr h="469431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Flowchart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219431"/>
                  </a:ext>
                </a:extLst>
              </a:tr>
              <a:tr h="43945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Layout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224055"/>
                  </a:ext>
                </a:extLst>
              </a:tr>
              <a:tr h="43945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flow diagram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282823"/>
                  </a:ext>
                </a:extLst>
              </a:tr>
              <a:tr h="43945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E-r diagram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781838"/>
                  </a:ext>
                </a:extLst>
              </a:tr>
              <a:tr h="43945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dictionary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331017"/>
                  </a:ext>
                </a:extLst>
              </a:tr>
              <a:tr h="469431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AND LOGIN FORM WITH CODING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9702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92C7ED-2C6C-656F-4E2C-270889285906}"/>
              </a:ext>
            </a:extLst>
          </p:cNvPr>
          <p:cNvSpPr txBox="1"/>
          <p:nvPr/>
        </p:nvSpPr>
        <p:spPr>
          <a:xfrm>
            <a:off x="3202922" y="484094"/>
            <a:ext cx="5157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B0BE75-6AA3-62BF-2291-E32EE034B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6B62D5-484B-E4C1-822B-D689C28AC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7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F83FA6-21F3-11AF-9363-F2C228577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213437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FEB3-C63C-4F19-AF0E-158EED56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277" y="473168"/>
            <a:ext cx="10515600" cy="9429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111111"/>
                </a:solidFill>
                <a:effectLst/>
                <a:latin typeface="Alike"/>
                <a:ea typeface="Calibri" panose="020F0502020204030204" pitchFamily="34" charset="0"/>
                <a:cs typeface="Segoe UI" panose="020B0502040204020203" pitchFamily="34" charset="0"/>
              </a:rPr>
              <a:t>INTRODUCTION</a:t>
            </a:r>
            <a:r>
              <a:rPr lang="en-US" sz="1800" b="1" dirty="0">
                <a:solidFill>
                  <a:srgbClr val="11111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Segoe UI" panose="020B0502040204020203" pitchFamily="34" charset="0"/>
              </a:rPr>
              <a:t>  </a:t>
            </a:r>
            <a:br>
              <a:rPr lang="en-IN" sz="1800" dirty="0">
                <a:solidFill>
                  <a:srgbClr val="111111"/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E950E-EA02-9C0F-78B1-85ECF9F2F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75" y="2067150"/>
            <a:ext cx="11239302" cy="431768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based on project of online ticketing booking system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Website is based on the concept of booking movie tickets. 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Talking about the features of this Simple system, the user can book movie tickets.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user can easily be able to know about the movies released and then make their choice.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D0F76A-029E-4BB6-FA4E-4E7F0E1CF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80E8DC-CBAD-F6F4-162F-86FECF5AA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3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9FB1-B091-5625-3644-277701804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3081"/>
            <a:ext cx="12192000" cy="108188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292929"/>
                </a:solidFill>
                <a:effectLst/>
                <a:latin typeface="Alike"/>
              </a:rPr>
              <a:t>AIM</a:t>
            </a:r>
            <a:r>
              <a:rPr lang="en-IN" sz="3200" b="1" i="1" dirty="0">
                <a:solidFill>
                  <a:srgbClr val="292929"/>
                </a:solidFill>
                <a:effectLst/>
                <a:latin typeface="Alike"/>
              </a:rPr>
              <a:t> </a:t>
            </a:r>
            <a:endParaRPr lang="en-IN" sz="3200" b="1" i="1" dirty="0">
              <a:latin typeface="Alik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DB593-8F10-8F93-588E-11E3F7CDD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75" y="1936054"/>
            <a:ext cx="11830050" cy="3202405"/>
          </a:xfrm>
        </p:spPr>
        <p:txBody>
          <a:bodyPr>
            <a:normAutofit/>
          </a:bodyPr>
          <a:lstStyle/>
          <a:p>
            <a:pPr lvl="1" algn="just"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theatre owners and show organizers a platform to connect with customer while hosting their show.</a:t>
            </a:r>
          </a:p>
          <a:p>
            <a:pPr lvl="1" algn="just"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platform provides user in order for buying / purchasing show and tickets.</a:t>
            </a:r>
          </a:p>
          <a:p>
            <a:pPr lvl="1" algn="just"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platform provides user to all information.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365547-EF71-B593-03B9-B576B7687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CDECF7-1BD2-CB23-09BF-207E18072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6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F125-7525-5568-B306-56229860F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75" y="1665212"/>
            <a:ext cx="10914529" cy="4945877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IN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OF SYSTEM :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“</a:t>
            </a:r>
            <a:r>
              <a:rPr lang="en-IN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CINEWINDOW”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IN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TAGLINE : 		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“EVERY TICKET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IN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457200" lvl="1" indent="0">
              <a:buNone/>
            </a:pPr>
            <a:r>
              <a:rPr lang="en-IN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 </a:t>
            </a:r>
            <a:r>
              <a:rPr lang="en-IN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JOURNEY”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IN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i="0" dirty="0">
                <a:solidFill>
                  <a:srgbClr val="2929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LOGO </a:t>
            </a:r>
            <a:r>
              <a:rPr lang="en-IN" b="1" i="0" dirty="0">
                <a:solidFill>
                  <a:srgbClr val="2929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9F1E61-53EE-4266-AAFF-1C7F460CD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375" y="4390879"/>
            <a:ext cx="3550025" cy="2174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560EE9-2E4C-100C-2B51-1F40C0BC3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D83C6B-19FD-78F1-EA45-BFA7BF292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45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674CD-F9A5-29FC-30F2-98D3FB4AE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DC9F73-8187-2AA9-E37A-3A1E0125A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67805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7AB5B-CAC7-A2B4-499F-B9968BBCF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937"/>
            <a:ext cx="12192000" cy="1058068"/>
          </a:xfrm>
        </p:spPr>
        <p:txBody>
          <a:bodyPr>
            <a:normAutofit/>
          </a:bodyPr>
          <a:lstStyle/>
          <a:p>
            <a:pPr algn="ctr"/>
            <a:r>
              <a:rPr lang="en-US" sz="3200" b="1" i="0" cap="all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ROLE OF USER</a:t>
            </a:r>
            <a:br>
              <a:rPr lang="en-US" sz="3200" b="1" i="0" cap="all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C613-8A91-4C1B-A565-3CB6AFCC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75" y="1647013"/>
            <a:ext cx="11187849" cy="5031311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insert Mobile Number or Gmail id for registration.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insert O.T.P which generated on inserted mobile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umber/Mail Id.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sign up successfully.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insert user id and password for login.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click on forgot password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new password.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insert registered username or mobile number.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user insert new password for id.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user is registered.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search movie/theater as per choice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 can use filter on search bar like select city, theater type.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E727E-1FA5-73AC-FC68-B22EDC8BD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75A230-2FA6-324F-8BC3-B9844C3B6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8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DE324-8031-E953-DD82-E3F142716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0105"/>
            <a:ext cx="11483788" cy="5417895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select movie from selected theater page’s movie list.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select movie show time and movie type like 3D, languages.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that user select seats from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Seating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layout.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click on payment button after getting the invoice.</a:t>
            </a:r>
            <a:endParaRPr lang="en-IN" sz="1800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Select multiple payment options – UPI,CARD,NET BANKING.</a:t>
            </a:r>
            <a:endParaRPr lang="en-IN" sz="1800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should insert UPI ID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 payment method through UPI is selected.</a:t>
            </a:r>
            <a:endParaRPr lang="en-IN" sz="1800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should insert Card No, Card expire date, if payment method through card is selected.</a:t>
            </a:r>
            <a:endParaRPr lang="en-IN" sz="1800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should select bank nam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list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banks, if payment method through Net Banking is selected..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Now, user 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will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 E-Ticket of show contains all the details of the show. </a:t>
            </a:r>
            <a:endParaRPr lang="en-US" sz="1800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also cancel the show using cancellation process, as per T&amp;C of Theaters.</a:t>
            </a:r>
            <a:endParaRPr lang="en-IN" sz="1800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watch trailers of upcoming movies and screening movies on th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trailer’s page.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5E1EE4-16A1-DC9F-EC19-6B8949EFF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6E39C7-99FC-810F-CBB2-AB9E11416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33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EE4B-898D-049E-3BA5-58B6D6ADE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7694"/>
            <a:ext cx="12192000" cy="4985385"/>
          </a:xfrm>
        </p:spPr>
        <p:txBody>
          <a:bodyPr>
            <a:norm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get all user details on profile page.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get list of services on profile page.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Account provide all details of user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Name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City,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hone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umber, Gmail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change the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password.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change the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ID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details from profile page.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History area contains all the history of user booked shows previously.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also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Register Theater in system, in profile section.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add an upcoming movie to the wish list using add button provided on trailer’s page.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can also get help &amp; support services in profile section.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E32AC9-BB97-7F9E-21A9-9A2E3FD09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C5E8B3-52A0-AF09-FFBF-5475525D6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29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C0D8-8F84-6749-BB59-A87C08A4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0725"/>
            <a:ext cx="12192000" cy="1144587"/>
          </a:xfrm>
        </p:spPr>
        <p:txBody>
          <a:bodyPr>
            <a:normAutofit/>
          </a:bodyPr>
          <a:lstStyle/>
          <a:p>
            <a:pPr algn="ctr"/>
            <a:r>
              <a:rPr lang="en-US" sz="3200" b="1" i="0" cap="all" dirty="0">
                <a:solidFill>
                  <a:srgbClr val="000000"/>
                </a:solidFill>
                <a:effectLst/>
                <a:latin typeface="Alike"/>
              </a:rPr>
              <a:t>ROLE OF ADMIN</a:t>
            </a:r>
            <a:br>
              <a:rPr lang="en-US" sz="3200" b="1" i="0" cap="all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48D15-7A76-D71C-EB33-801CD7DC9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913"/>
            <a:ext cx="10515600" cy="4351338"/>
          </a:xfrm>
        </p:spPr>
        <p:txBody>
          <a:bodyPr>
            <a:normAutofit/>
          </a:bodyPr>
          <a:lstStyle/>
          <a:p>
            <a:pPr marL="0" indent="0" algn="l" rtl="0" fontAlgn="base">
              <a:buNone/>
            </a:pPr>
            <a:endParaRPr lang="en-US" b="0" i="0" cap="all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E2B10-738E-7794-C4B2-8E40DED41756}"/>
              </a:ext>
            </a:extLst>
          </p:cNvPr>
          <p:cNvSpPr txBox="1"/>
          <p:nvPr/>
        </p:nvSpPr>
        <p:spPr>
          <a:xfrm>
            <a:off x="0" y="1705655"/>
            <a:ext cx="1200150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login in the system using admin id and password.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can search registered theater using search tool which he/she want to find.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can see the registered theaters in 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admin’s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home screen.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can verify the new theater registration request in request box.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contact with theater owners 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call and verify it.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can approve registration request of theater owner.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wil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 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 an approved theater’s details in system.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also list theater by own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will get payment from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theatre owner as per deal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1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can also remove the theater which is registered previously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833C8D-5FC6-63D4-55D0-8F9B624E4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7871F-FB0E-671E-9054-6761AF2AD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23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C4BA-092D-9932-18BF-DEFDE276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9185"/>
            <a:ext cx="12192000" cy="1000125"/>
          </a:xfrm>
        </p:spPr>
        <p:txBody>
          <a:bodyPr>
            <a:normAutofit/>
          </a:bodyPr>
          <a:lstStyle/>
          <a:p>
            <a:pPr algn="ctr"/>
            <a:r>
              <a:rPr lang="en-US" sz="3200" b="1" i="0" cap="all" dirty="0">
                <a:solidFill>
                  <a:srgbClr val="000000"/>
                </a:solidFill>
                <a:effectLst/>
                <a:latin typeface="Alike"/>
              </a:rPr>
              <a:t>ROLE OF THEATRE OWNER</a:t>
            </a:r>
            <a:endParaRPr lang="en-IN" sz="3200" b="1" dirty="0">
              <a:latin typeface="Alik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4DD1E-D1FF-3F9B-0370-FDC706AAB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1871"/>
            <a:ext cx="11577918" cy="4233010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click on “Register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heater” option in profile page.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gets registration form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send registration request to the admin.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will fill up the details of registration form and submit the form after filling the details.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need to provide all the information of theater to admin in verification call. 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Now ,THEATRE OWNER needs enter theater id and password in login page in THEATRE OWNER login page.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will get all information of movie screening in theater and can insert upcoming movies trailers on home page.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can add new movie using add movie.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9F2BF0-5A0F-D745-4C70-6C3A5CDE1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04AC9A-7405-00AD-63B2-82BC96A61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7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AA705BB-C6CC-7E81-AB32-D77E6E78E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1514"/>
            <a:ext cx="12192000" cy="5586486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that THEATRE OWNER can open movie page from home page.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can add show timing in different screen.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add show times.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can remove movie from system.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can add new screen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can add upcoming film trailers in trailers list 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can change password from profile page.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gets all history of movies added in system.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can add screens.</a:t>
            </a:r>
            <a:endParaRPr lang="en-US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will get help &amp; support service for problem solving.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"/>
            </a:pP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THEATRE OWNER will get all payments on registered bank account from admin.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B871A1-4CD0-860E-027C-94E7F02E6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7A2724-A22F-5C3E-6D89-629496A1C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91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1343-BA16-E993-D5A1-0357D370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9050"/>
            <a:ext cx="12192000" cy="939008"/>
          </a:xfrm>
        </p:spPr>
        <p:txBody>
          <a:bodyPr>
            <a:normAutofit/>
          </a:bodyPr>
          <a:lstStyle/>
          <a:p>
            <a:pPr algn="ctr"/>
            <a:r>
              <a:rPr lang="en-IN" sz="3200" b="1" i="0" dirty="0">
                <a:solidFill>
                  <a:srgbClr val="292929"/>
                </a:solidFill>
                <a:effectLst/>
                <a:latin typeface="Alike"/>
              </a:rPr>
              <a:t>ALOGRITHM OF USER</a:t>
            </a:r>
            <a:endParaRPr lang="en-IN" sz="3200" b="1" dirty="0">
              <a:latin typeface="Alik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D7B04-A397-23F0-7B2D-07B1D756C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30243"/>
            <a:ext cx="11577918" cy="4968707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1:-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START.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2:-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LOGIN – USER_ID &amp; PASSWORD.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2.1:-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RESET PASSWORD.            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		OR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2:-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 UP USING PHONE NUMBER/ GMAIL.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3:</a:t>
            </a:r>
            <a:r>
              <a:rPr lang="en-US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FILL UP REGISTRATION FORM.</a:t>
            </a:r>
            <a:r>
              <a:rPr lang="en-US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4:-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SEARCH MOVIE / THEATER.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5:-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SELECT THEATER FOR SELECTED MOVIE.	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IN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5:-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SELECT MOVIE FROM SELECTED THEATER</a:t>
            </a:r>
            <a:endParaRPr lang="en-IN" sz="1800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50D16C-B3FA-7946-E567-28046EA34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B70DA7-5C8F-EFE9-D16A-24BAB2F6C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72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C429-BFFA-7028-567D-FBE68C353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047"/>
            <a:ext cx="11161059" cy="5279708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endParaRPr lang="en-IN" sz="1800" b="1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6:-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SELECT SCREEN, SHOW TIME AND SEATS.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7:-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CHECK INVOICE DETAILS.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8:-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SELECT PAYMENT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PAY.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9:-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GET E-TICKET.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10:-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CLICK ON CANCELLECTION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CANCEL MOVIE TICKETS.			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endParaRPr lang="en-IN" sz="1800" b="1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10:-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COME BACK ON HOME PAGE.</a:t>
            </a:r>
            <a:endParaRPr lang="en-IN" sz="1800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11:-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STOP.</a:t>
            </a:r>
            <a:endParaRPr lang="en-US" sz="18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D9F4CF-FC8B-2B2C-ABD1-9B02B525C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020EE5-0962-576C-75B7-E8D48FDAE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15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6C1F-117C-0F62-AC51-454679DB1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5469"/>
            <a:ext cx="12192000" cy="76755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292929"/>
                </a:solidFill>
                <a:effectLst/>
                <a:latin typeface="Alike"/>
              </a:rPr>
              <a:t>ALGORITHM OF ADMIN</a:t>
            </a:r>
            <a:endParaRPr lang="en-IN" sz="3200" dirty="0">
              <a:latin typeface="Alik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70544-E976-9C17-696E-5AC85959D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5005"/>
            <a:ext cx="11214847" cy="5512995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1: -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START.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2: -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LOGIN USING ADMIN_ID &amp; PASSWORD.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3:</a:t>
            </a:r>
            <a:r>
              <a:rPr lang="en-US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VERIFY REGISTRATION FORM.</a:t>
            </a:r>
            <a:r>
              <a:rPr lang="en-US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4: - 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CONTACT WITH THEATERS OWNER.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5: -</a:t>
            </a: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APPROVE THEATER REQUESTS.    	</a:t>
            </a:r>
            <a:r>
              <a:rPr lang="en-IN" sz="1800" b="1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endParaRPr lang="en-IN" sz="1800" b="1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5: 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REJECT THEATER REQUEST. 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6: 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CLICK ON ADD THEATER.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7: 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FILL UP ALL THEATER DETAILS.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8: 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PROFIT SHARE FROM THEATRE OWNER MONTHLY PROFIT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9: 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REMOVE THEATER.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10: -</a:t>
            </a:r>
            <a:r>
              <a:rPr lang="en-US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STOP</a:t>
            </a: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en-IN" sz="1800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 fontAlgn="base">
              <a:lnSpc>
                <a:spcPct val="100000"/>
              </a:lnSpc>
              <a:buNone/>
            </a:pPr>
            <a:endParaRPr lang="en-US" sz="1800" i="0" dirty="0">
              <a:solidFill>
                <a:srgbClr val="2929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893E9-59D1-FD55-81A7-742B81174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AC2284-4DE8-C0E6-A8A1-C936CC67A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874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3920A-5846-B7F4-5182-E39A9C64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795"/>
            <a:ext cx="12192000" cy="92471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292929"/>
                </a:solidFill>
                <a:effectLst/>
                <a:latin typeface="Alike"/>
              </a:rPr>
              <a:t>ALGORITHM OF </a:t>
            </a:r>
            <a:r>
              <a:rPr lang="en-IN" sz="3200" b="1" dirty="0">
                <a:solidFill>
                  <a:srgbClr val="292929"/>
                </a:solidFill>
                <a:latin typeface="Alike"/>
              </a:rPr>
              <a:t>THEATRE OWNER</a:t>
            </a:r>
            <a:r>
              <a:rPr lang="en-IN" sz="3200" b="1" dirty="0">
                <a:solidFill>
                  <a:srgbClr val="292929"/>
                </a:solidFill>
                <a:effectLst/>
                <a:latin typeface="Alike"/>
              </a:rPr>
              <a:t> </a:t>
            </a:r>
            <a:endParaRPr lang="en-IN" sz="3200" b="1" dirty="0">
              <a:latin typeface="Alik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000B1-DB58-9DA5-DFA3-9A398E4A2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60985"/>
            <a:ext cx="12192000" cy="4469231"/>
          </a:xfrm>
        </p:spPr>
        <p:txBody>
          <a:bodyPr>
            <a:noAutofit/>
          </a:bodyPr>
          <a:lstStyle/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STEP 1: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START.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STEP 2: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LOGIN 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THEATER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 AND PASSWORD.</a:t>
            </a:r>
            <a:r>
              <a:rPr lang="en-IN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 marL="914400" lvl="2" indent="0" algn="just">
              <a:lnSpc>
                <a:spcPct val="150000"/>
              </a:lnSpc>
              <a:buNone/>
            </a:pPr>
            <a:r>
              <a:rPr lang="en-IN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US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endParaRPr lang="en-IN" b="1" dirty="0">
              <a:solidFill>
                <a:srgbClr val="11111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2: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OPEN </a:t>
            </a:r>
            <a:r>
              <a:rPr lang="en-IN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WEBSITE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CLICK ON REGISTRATION.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2.1: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FILL UP REGISTRATION FORM DETAILS.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STEP 2.2</a:t>
            </a:r>
            <a:r>
              <a:rPr lang="en-IN" b="1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GETTING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CALL FROM ADMIN.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STEP 3: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ADD TRAILERS IN TRAILERS LIST.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4: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CLICK, ADD PAGE </a:t>
            </a:r>
            <a:r>
              <a:rPr lang="en-IN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INSERT NEW MOVIE.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5CB617-E743-719C-D38C-52A025B41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75621-92DF-4993-4633-E5156B1CA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35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1C36-5114-C95F-37D7-1E65D08B2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4930"/>
            <a:ext cx="12192000" cy="4815529"/>
          </a:xfrm>
        </p:spPr>
        <p:txBody>
          <a:bodyPr>
            <a:normAutofit/>
          </a:bodyPr>
          <a:lstStyle/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5: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FILL UP ALL MOVIE DETAILS AND SCREEN DETAILS.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6: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OPEN MOVIE PAGE FROM MOVIE LIST.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7:</a:t>
            </a:r>
            <a:r>
              <a:rPr lang="en-IN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INSERT SHOW TIME IN DIFFERENT SCREENS.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8: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REMOVE MOVIE.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9: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CLICK PROFILE, SELECT SCREENS.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10:</a:t>
            </a:r>
            <a:r>
              <a:rPr lang="en-US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ADD SCREEN DETAILS &amp; DESIGN SEATS LAYOUT.</a:t>
            </a:r>
            <a:endParaRPr lang="en-IN" sz="2400" dirty="0">
              <a:solidFill>
                <a:srgbClr val="11111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11:</a:t>
            </a:r>
            <a:r>
              <a:rPr lang="en-US" sz="20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STOP.</a:t>
            </a:r>
            <a:r>
              <a:rPr lang="en-IN" sz="20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7CDEE5-7B12-2B30-FD8B-BDEDC55AB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DB3B05-7A5E-CE5B-2060-5B53D8658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30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6E92-6E33-6693-726A-335377C7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625"/>
            <a:ext cx="12192000" cy="6778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like"/>
              </a:rPr>
              <a:t>FLOWCHART</a:t>
            </a:r>
            <a:endParaRPr lang="en-IN" sz="3200" b="1" dirty="0">
              <a:latin typeface="Alik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967F6D-2B26-5B58-7E59-538C09185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500"/>
            <a:ext cx="12012327" cy="603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13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F72B-1D04-CDE3-8B96-4066EF97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878"/>
            <a:ext cx="12192000" cy="670559"/>
          </a:xfrm>
        </p:spPr>
        <p:txBody>
          <a:bodyPr>
            <a:normAutofit/>
          </a:bodyPr>
          <a:lstStyle/>
          <a:p>
            <a:pPr marL="342900" lvl="0" indent="-342900" algn="ctr">
              <a:lnSpc>
                <a:spcPct val="150000"/>
              </a:lnSpc>
            </a:pPr>
            <a:r>
              <a:rPr lang="en-US" sz="1800" b="1" dirty="0">
                <a:solidFill>
                  <a:srgbClr val="111111"/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Segoe UI" panose="020B0502040204020203" pitchFamily="34" charset="0"/>
              </a:rPr>
              <a:t>	</a:t>
            </a:r>
            <a:r>
              <a:rPr lang="en-US" sz="2800" b="1" dirty="0">
                <a:solidFill>
                  <a:srgbClr val="111111"/>
                </a:solidFill>
                <a:latin typeface="Alike"/>
                <a:ea typeface="Calibri" panose="020F0502020204030204" pitchFamily="34" charset="0"/>
                <a:cs typeface="Segoe UI" panose="020B0502040204020203" pitchFamily="34" charset="0"/>
              </a:rPr>
              <a:t>LAYOUT OF CUSTOMERS</a:t>
            </a:r>
            <a:endParaRPr lang="en-IN" sz="2800" dirty="0">
              <a:latin typeface="Alike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0FA308-1DFA-670A-8878-894DE75A9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257" y="867847"/>
            <a:ext cx="4815046" cy="6705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+mj-lt"/>
                <a:ea typeface="Calibri" panose="020F0502020204030204" pitchFamily="34" charset="0"/>
                <a:cs typeface="Segoe UI" panose="020B0502040204020203" pitchFamily="34" charset="0"/>
              </a:rPr>
              <a:t>1. LOGIN:</a:t>
            </a:r>
            <a:endParaRPr lang="en-IN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61AAB-06A6-8342-D7E4-5A8E3B6D1F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3" r="609"/>
          <a:stretch/>
        </p:blipFill>
        <p:spPr>
          <a:xfrm>
            <a:off x="1706296" y="1538406"/>
            <a:ext cx="7963593" cy="491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78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3053-435E-BBBE-197D-07AB1FF2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78" y="760705"/>
            <a:ext cx="5370022" cy="111797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2. SIGN-UPS:</a:t>
            </a:r>
            <a:br>
              <a:rPr lang="en-IN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E9D20-C5EC-5BD2-C94D-311372A513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1" r="4687"/>
          <a:stretch/>
        </p:blipFill>
        <p:spPr>
          <a:xfrm>
            <a:off x="606829" y="2244154"/>
            <a:ext cx="5151120" cy="3470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7380D8-AE1A-F018-9CBA-8D78AB26E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892" y="2244154"/>
            <a:ext cx="5562600" cy="347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64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C5BFF-93C6-5578-0BB3-4E7C76BC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34" y="849940"/>
            <a:ext cx="7702387" cy="795980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3. FORGET PASSWORD: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283E7D-4661-0507-ACED-A999102FAB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r="5031"/>
          <a:stretch/>
        </p:blipFill>
        <p:spPr>
          <a:xfrm>
            <a:off x="599903" y="2427972"/>
            <a:ext cx="5273040" cy="30317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62280C-8329-CCA4-6572-04442D3778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83"/>
          <a:stretch/>
        </p:blipFill>
        <p:spPr>
          <a:xfrm>
            <a:off x="6319059" y="2427972"/>
            <a:ext cx="5381308" cy="303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02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D409-2002-E4DC-934A-B73A0EBA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518" y="175932"/>
            <a:ext cx="7088206" cy="1022877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4. HOME PAGE: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0AD5B-8731-C96C-9CA8-FF00E2CA3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00" y="1073680"/>
            <a:ext cx="9899064" cy="518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34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D71A-3BCF-5378-3E39-5F8FCA92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54" y="343009"/>
            <a:ext cx="9050011" cy="952653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5.  SEARCH:</a:t>
            </a:r>
            <a:br>
              <a:rPr lang="en-IN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431E8-BF56-6DC2-1921-6FA6F22EC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36" y="1093531"/>
            <a:ext cx="9902427" cy="50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091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71CE-A313-1541-345C-2EE26731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512" y="286425"/>
            <a:ext cx="8911687" cy="85417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6. THEATRE SELECTION:</a:t>
            </a:r>
            <a:br>
              <a:rPr lang="en-IN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AB79FC-305F-CBFD-F9F6-F8AD2818E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93" y="1005840"/>
            <a:ext cx="9570085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140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DD8F-D657-7134-98E7-076922B0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014" y="282558"/>
            <a:ext cx="8468120" cy="91097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7. MOVIE PAGE:</a:t>
            </a:r>
            <a:br>
              <a:rPr lang="en-IN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D0ECD8-1554-644F-44E5-71EE43D6A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14" y="933650"/>
            <a:ext cx="9550188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97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90E7B-5009-B374-77DD-F4A30672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511" y="565702"/>
            <a:ext cx="8911687" cy="793210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8. SEAT SELECTION: 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56F909-5E3D-38ED-43AC-EE753874D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11" y="1358912"/>
            <a:ext cx="9532563" cy="518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64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EF559-97C5-556B-B258-6EFCBB1C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141" y="369041"/>
            <a:ext cx="8911687" cy="854170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9. INVOICE: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E28D7-CD4C-788B-9C5F-59913739BF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"/>
          <a:stretch/>
        </p:blipFill>
        <p:spPr>
          <a:xfrm>
            <a:off x="1800009" y="1200679"/>
            <a:ext cx="8073819" cy="528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73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170AF-6B39-C9F9-F3AD-076820072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258" y="381655"/>
            <a:ext cx="8911687" cy="808450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10. PAYMENT OPTION: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CFF2C-6277-1796-6299-F3E6AF183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114" y="1348402"/>
            <a:ext cx="8848246" cy="492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68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DC5C-9F4C-B8F0-B0EF-A5D16EDA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45" y="193992"/>
            <a:ext cx="11991755" cy="853439"/>
          </a:xfrm>
        </p:spPr>
        <p:txBody>
          <a:bodyPr>
            <a:noAutofit/>
          </a:bodyPr>
          <a:lstStyle/>
          <a:p>
            <a:pPr algn="ctr"/>
            <a:r>
              <a:rPr lang="en-US" sz="2800" b="1" i="1" dirty="0">
                <a:solidFill>
                  <a:srgbClr val="111111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LAYOUT OF </a:t>
            </a:r>
            <a:r>
              <a:rPr lang="en-US" sz="2800" b="1" i="1" dirty="0">
                <a:solidFill>
                  <a:srgbClr val="111111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THEATRE OWNER:</a:t>
            </a:r>
            <a:br>
              <a:rPr lang="en-IN" sz="2800" dirty="0">
                <a:solidFill>
                  <a:srgbClr val="111111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sz="28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D43A1-E0EF-945F-F1BF-93491880B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265" y="498776"/>
            <a:ext cx="9404668" cy="853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+mj-lt"/>
                <a:ea typeface="Calibri" panose="020F0502020204030204" pitchFamily="34" charset="0"/>
                <a:cs typeface="Segoe UI" panose="020B0502040204020203" pitchFamily="34" charset="0"/>
              </a:rPr>
              <a:t>1. LOGIN:</a:t>
            </a:r>
            <a:endParaRPr lang="en-IN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A10E8-7397-0045-9621-3B1CE3EF934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b="7659"/>
          <a:stretch/>
        </p:blipFill>
        <p:spPr>
          <a:xfrm>
            <a:off x="1120434" y="1158224"/>
            <a:ext cx="9178499" cy="52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26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334A-E873-6D72-7903-5B1780F6A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846" y="405717"/>
            <a:ext cx="8318491" cy="761345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2.THEATER REGISTATION: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1CEEB-32B2-724A-B06A-B16EE64A4C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4" r="5573"/>
          <a:stretch/>
        </p:blipFill>
        <p:spPr>
          <a:xfrm>
            <a:off x="2070308" y="1167062"/>
            <a:ext cx="6583680" cy="525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6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E248-0755-4D6A-3015-D0754BD5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765" y="345918"/>
            <a:ext cx="8468120" cy="98024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3. HOME PAGE:</a:t>
            </a:r>
            <a:br>
              <a:rPr lang="en-IN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FB65A-4AFA-7EF4-3627-ACCD09876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601" y="1210660"/>
            <a:ext cx="8961906" cy="504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71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BFCA-D54E-ADF8-1B8F-5587089E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355" y="271560"/>
            <a:ext cx="8434869" cy="847243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4. ADD MOVIE:</a:t>
            </a:r>
            <a:br>
              <a:rPr lang="en-IN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87B10-55AA-FFE2-9F9C-ABA7BCFF1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55" y="1118803"/>
            <a:ext cx="9391110" cy="512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61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4B47A-2A5C-B558-430E-93BAF230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87" y="346254"/>
            <a:ext cx="8384993" cy="85971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5. ADD SHOW:</a:t>
            </a:r>
            <a:br>
              <a:rPr lang="en-IN" sz="2800" dirty="0">
                <a:solidFill>
                  <a:srgbClr val="111111"/>
                </a:solidFill>
                <a:effectLst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DD546-A8A2-C579-F066-35A2D5F04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268" y="1205966"/>
            <a:ext cx="9267091" cy="511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67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9D11-02DB-3E16-1DDE-4B7240CD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65" y="14510"/>
            <a:ext cx="12022235" cy="1280890"/>
          </a:xfrm>
        </p:spPr>
        <p:txBody>
          <a:bodyPr>
            <a:normAutofit/>
          </a:bodyPr>
          <a:lstStyle/>
          <a:p>
            <a:pPr algn="ctr"/>
            <a:r>
              <a:rPr lang="en-US" sz="2800" b="1" i="1" dirty="0">
                <a:solidFill>
                  <a:srgbClr val="111111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LAYOUT OF </a:t>
            </a:r>
            <a:r>
              <a:rPr lang="en-US" sz="2800" b="1" dirty="0">
                <a:solidFill>
                  <a:srgbClr val="111111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ADMIN:</a:t>
            </a:r>
            <a:br>
              <a:rPr lang="en-IN" sz="2800" b="1" dirty="0">
                <a:solidFill>
                  <a:srgbClr val="111111"/>
                </a:solidFill>
                <a:effectLst/>
                <a:latin typeface="Arial Rounded MT Bold" panose="020F07040305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en-IN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93039-71E9-5D6C-3B9B-E68913EC0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420" y="654955"/>
            <a:ext cx="8915400" cy="1006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+mj-lt"/>
                <a:ea typeface="Calibri" panose="020F0502020204030204" pitchFamily="34" charset="0"/>
                <a:cs typeface="Segoe UI" panose="020B0502040204020203" pitchFamily="34" charset="0"/>
              </a:rPr>
              <a:t>1. LOGIN:</a:t>
            </a:r>
            <a:endParaRPr lang="en-IN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B43E6-9616-FF52-8630-C5B737AD16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8" r="442" b="8682"/>
          <a:stretch/>
        </p:blipFill>
        <p:spPr>
          <a:xfrm>
            <a:off x="1298824" y="1435679"/>
            <a:ext cx="9054338" cy="50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60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BBA84-3DFF-0B65-52CC-2B0F4300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892" y="384564"/>
            <a:ext cx="8911687" cy="945610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2. HOME PAGE: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FFFDC-9E27-077A-A092-8E6C3C759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92" y="1417248"/>
            <a:ext cx="8904810" cy="505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04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36BB-469E-59BA-EC7E-9E0883E0B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132" y="496675"/>
            <a:ext cx="8551248" cy="811221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3. THEATRE REQUESTS: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C1521-419C-1533-48AE-252CD3FF2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21" y="1307896"/>
            <a:ext cx="9211358" cy="511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40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D6FE-DA36-2FF3-8EA1-0EF206C18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771" y="294445"/>
            <a:ext cx="8556491" cy="1003077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Segoe UI" panose="020B0502040204020203" pitchFamily="34" charset="0"/>
              </a:rPr>
              <a:t>4. ADD THEATRE: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5966C-D378-5133-4529-F5722ECD4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80" y="1162767"/>
            <a:ext cx="9265621" cy="518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02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210156-3B78-A2F2-7BF3-DE3C09DE1E01}"/>
              </a:ext>
            </a:extLst>
          </p:cNvPr>
          <p:cNvSpPr txBox="1"/>
          <p:nvPr/>
        </p:nvSpPr>
        <p:spPr>
          <a:xfrm>
            <a:off x="3786188" y="0"/>
            <a:ext cx="5243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/>
              <a:t>DATA FLOW DIAGRAM</a:t>
            </a:r>
            <a:endParaRPr lang="en-IN" sz="3200" b="1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2291C-E64D-4CEC-B3E6-9A396FAEAD22}"/>
              </a:ext>
            </a:extLst>
          </p:cNvPr>
          <p:cNvSpPr txBox="1"/>
          <p:nvPr/>
        </p:nvSpPr>
        <p:spPr>
          <a:xfrm>
            <a:off x="922097" y="1032718"/>
            <a:ext cx="1328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0: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1D048-ED20-038E-CAA5-F80149183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2033587"/>
            <a:ext cx="9490154" cy="346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73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C2291C-E64D-4CEC-B3E6-9A396FAEAD22}"/>
              </a:ext>
            </a:extLst>
          </p:cNvPr>
          <p:cNvSpPr txBox="1"/>
          <p:nvPr/>
        </p:nvSpPr>
        <p:spPr>
          <a:xfrm>
            <a:off x="0" y="0"/>
            <a:ext cx="221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1: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4BB1B-622A-4EFE-57B1-858F484BC5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0"/>
          <a:stretch/>
        </p:blipFill>
        <p:spPr>
          <a:xfrm>
            <a:off x="38100" y="671512"/>
            <a:ext cx="1215390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63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C2291C-E64D-4CEC-B3E6-9A396FAEAD22}"/>
              </a:ext>
            </a:extLst>
          </p:cNvPr>
          <p:cNvSpPr txBox="1"/>
          <p:nvPr/>
        </p:nvSpPr>
        <p:spPr>
          <a:xfrm>
            <a:off x="0" y="0"/>
            <a:ext cx="2214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LEVEL 2: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CE2E6-6595-6BCB-4A67-3ACC2C3613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667"/>
          <a:stretch/>
        </p:blipFill>
        <p:spPr>
          <a:xfrm>
            <a:off x="0" y="871536"/>
            <a:ext cx="6509051" cy="54368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754BA3-8194-6575-4F7C-6C503A3E0A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87"/>
          <a:stretch/>
        </p:blipFill>
        <p:spPr>
          <a:xfrm>
            <a:off x="6240641" y="1028701"/>
            <a:ext cx="5951359" cy="418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429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C2291C-E64D-4CEC-B3E6-9A396FAEAD22}"/>
              </a:ext>
            </a:extLst>
          </p:cNvPr>
          <p:cNvSpPr txBox="1"/>
          <p:nvPr/>
        </p:nvSpPr>
        <p:spPr>
          <a:xfrm>
            <a:off x="0" y="0"/>
            <a:ext cx="281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THEATRE OWNER LEVEL 2: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FDCA40-F831-5939-E011-47AE504166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60" r="58780" b="22917"/>
          <a:stretch/>
        </p:blipFill>
        <p:spPr>
          <a:xfrm>
            <a:off x="112214" y="3457573"/>
            <a:ext cx="5759949" cy="3429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59C64A-5FDC-22C6-C46C-0A89DEB1C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83" r="60084"/>
          <a:stretch/>
        </p:blipFill>
        <p:spPr>
          <a:xfrm>
            <a:off x="6084347" y="942975"/>
            <a:ext cx="6107653" cy="17859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F77928-DF6A-BB0A-6E39-BF5FFDA756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57" b="68125"/>
          <a:stretch/>
        </p:blipFill>
        <p:spPr>
          <a:xfrm>
            <a:off x="5872163" y="3557586"/>
            <a:ext cx="6251163" cy="27289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C0B954-57B4-144D-12F5-71F063E3B9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525" b="67917"/>
          <a:stretch/>
        </p:blipFill>
        <p:spPr>
          <a:xfrm>
            <a:off x="275611" y="957262"/>
            <a:ext cx="5196502" cy="247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579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C2291C-E64D-4CEC-B3E6-9A396FAEAD22}"/>
              </a:ext>
            </a:extLst>
          </p:cNvPr>
          <p:cNvSpPr txBox="1"/>
          <p:nvPr/>
        </p:nvSpPr>
        <p:spPr>
          <a:xfrm>
            <a:off x="0" y="0"/>
            <a:ext cx="281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OWNER LEVEL 2: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FFE4F-BDF3-9C41-B420-5422FF1BB5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5238"/>
          <a:stretch/>
        </p:blipFill>
        <p:spPr>
          <a:xfrm>
            <a:off x="109537" y="597932"/>
            <a:ext cx="7304825" cy="32454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7416E3-D4F4-2048-B3DF-C00DEEB670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51"/>
          <a:stretch/>
        </p:blipFill>
        <p:spPr>
          <a:xfrm>
            <a:off x="109537" y="3871913"/>
            <a:ext cx="7177088" cy="301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066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210156-3B78-A2F2-7BF3-DE3C09DE1E01}"/>
              </a:ext>
            </a:extLst>
          </p:cNvPr>
          <p:cNvSpPr txBox="1"/>
          <p:nvPr/>
        </p:nvSpPr>
        <p:spPr>
          <a:xfrm>
            <a:off x="3786188" y="0"/>
            <a:ext cx="5243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/>
              <a:t>E-R DIAGRAM</a:t>
            </a:r>
            <a:endParaRPr lang="en-IN" sz="32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A8375-05C9-56AE-DA58-16AA7BF2B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77" y="654536"/>
            <a:ext cx="10627245" cy="62034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A8920F-1F7F-571B-3BED-E0E2E75C5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F17478-E073-319C-965E-48E0AD069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725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2C231F-35C4-4B45-FF6B-8325DF719FFD}"/>
              </a:ext>
            </a:extLst>
          </p:cNvPr>
          <p:cNvSpPr txBox="1">
            <a:spLocks/>
          </p:cNvSpPr>
          <p:nvPr/>
        </p:nvSpPr>
        <p:spPr>
          <a:xfrm>
            <a:off x="1784755" y="308101"/>
            <a:ext cx="8229600" cy="8572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+mn-lt"/>
                <a:cs typeface="Times New Roman" panose="02020603050405020304" pitchFamily="18" charset="0"/>
              </a:rPr>
              <a:t>Data Directory</a:t>
            </a: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CA88E1B4-A675-D1EF-DD37-06CF3DE297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8820737"/>
              </p:ext>
            </p:extLst>
          </p:nvPr>
        </p:nvGraphicFramePr>
        <p:xfrm>
          <a:off x="770332" y="3035692"/>
          <a:ext cx="9815516" cy="2519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a_</a:t>
                      </a:r>
                      <a:r>
                        <a:rPr lang="en-IN" sz="1600" dirty="0"/>
                        <a:t>id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824060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479283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6758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7526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5E264A0-3C27-149E-771E-05778ADD6CE7}"/>
              </a:ext>
            </a:extLst>
          </p:cNvPr>
          <p:cNvSpPr txBox="1"/>
          <p:nvPr/>
        </p:nvSpPr>
        <p:spPr>
          <a:xfrm>
            <a:off x="633415" y="1867183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ADMIN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Admin</a:t>
            </a:r>
            <a:r>
              <a:rPr lang="en-US" dirty="0"/>
              <a:t>’s information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199F03-B2BB-A191-B445-40DF205A3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1EF5EC-D3E0-B2E0-44E9-9EC4D5081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003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4F6E0731-8A5D-167B-E6F1-B969032A72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6161491"/>
              </p:ext>
            </p:extLst>
          </p:nvPr>
        </p:nvGraphicFramePr>
        <p:xfrm>
          <a:off x="770332" y="2600030"/>
          <a:ext cx="10156032" cy="3598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9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9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58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58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u_</a:t>
                      </a:r>
                      <a:r>
                        <a:rPr lang="en-IN" sz="1600" dirty="0"/>
                        <a:t>id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46058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95350"/>
                  </a:ext>
                </a:extLst>
              </a:tr>
              <a:tr h="5230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0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6758"/>
                  </a:ext>
                </a:extLst>
              </a:tr>
              <a:tr h="5230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752662"/>
                  </a:ext>
                </a:extLst>
              </a:tr>
              <a:tr h="6480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9959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C2A92A1-B1B2-DA09-0796-F4EA6D4A7F8A}"/>
              </a:ext>
            </a:extLst>
          </p:cNvPr>
          <p:cNvSpPr txBox="1"/>
          <p:nvPr/>
        </p:nvSpPr>
        <p:spPr>
          <a:xfrm>
            <a:off x="633415" y="1649352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USER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User</a:t>
            </a:r>
            <a:r>
              <a:rPr lang="en-US" dirty="0"/>
              <a:t>’s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67E7C-8E9E-1969-875B-03BA60153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2E2FEA-8E4C-3481-C1DE-002AA4BAB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71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4F6E0731-8A5D-167B-E6F1-B969032A72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038045"/>
              </p:ext>
            </p:extLst>
          </p:nvPr>
        </p:nvGraphicFramePr>
        <p:xfrm>
          <a:off x="770332" y="2268412"/>
          <a:ext cx="10127460" cy="4165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1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1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1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req_</a:t>
                      </a:r>
                      <a:r>
                        <a:rPr lang="en-IN" sz="1600" dirty="0"/>
                        <a:t>id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4748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8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th_</a:t>
                      </a:r>
                      <a:r>
                        <a:rPr lang="en-IN" sz="1600" dirty="0"/>
                        <a:t>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29797"/>
                  </a:ext>
                </a:extLst>
              </a:tr>
              <a:tr h="4748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938770"/>
                  </a:ext>
                </a:extLst>
              </a:tr>
              <a:tr h="4748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059158"/>
                  </a:ext>
                </a:extLst>
              </a:tr>
              <a:tr h="3660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o_phone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6758"/>
                  </a:ext>
                </a:extLst>
              </a:tr>
              <a:tr h="47485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752662"/>
                  </a:ext>
                </a:extLst>
              </a:tr>
              <a:tr h="5883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account_no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9959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C2A92A1-B1B2-DA09-0796-F4EA6D4A7F8A}"/>
              </a:ext>
            </a:extLst>
          </p:cNvPr>
          <p:cNvSpPr txBox="1"/>
          <p:nvPr/>
        </p:nvSpPr>
        <p:spPr>
          <a:xfrm>
            <a:off x="641956" y="1483543"/>
            <a:ext cx="6504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TH_REQ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Th_req</a:t>
            </a:r>
            <a:r>
              <a:rPr lang="en-US" dirty="0"/>
              <a:t>’s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DB1257-2FFE-C1EB-F0E7-A805B3520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B57DD5-19EE-48A5-82E8-2FC1C14F4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139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8CDC10C7-8004-2EEA-B566-89D21834D6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4779365"/>
              </p:ext>
            </p:extLst>
          </p:nvPr>
        </p:nvGraphicFramePr>
        <p:xfrm>
          <a:off x="633415" y="2479563"/>
          <a:ext cx="9891712" cy="3860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3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3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3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th_</a:t>
                      </a:r>
                      <a:r>
                        <a:rPr lang="en-IN" sz="1600" dirty="0"/>
                        <a:t>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4466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6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70034"/>
                  </a:ext>
                </a:extLst>
              </a:tr>
              <a:tr h="4466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o_phone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320254"/>
                  </a:ext>
                </a:extLst>
              </a:tr>
              <a:tr h="4466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join_date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6758"/>
                  </a:ext>
                </a:extLst>
              </a:tr>
              <a:tr h="4466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no_sc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752662"/>
                  </a:ext>
                </a:extLst>
              </a:tr>
              <a:tr h="4466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account_no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0789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F06C688-6571-8A96-0EAE-4C7EE1762CC0}"/>
              </a:ext>
            </a:extLst>
          </p:cNvPr>
          <p:cNvSpPr txBox="1"/>
          <p:nvPr/>
        </p:nvSpPr>
        <p:spPr>
          <a:xfrm>
            <a:off x="633415" y="1564494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THEATRE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Theatre</a:t>
            </a:r>
            <a:r>
              <a:rPr lang="en-US" dirty="0"/>
              <a:t>’s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71E0C-F729-9830-1A0D-F0C165AC9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3B4209-BA0D-D08F-351E-C9B52D96C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242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4F6E0731-8A5D-167B-E6F1-B969032A72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342476"/>
              </p:ext>
            </p:extLst>
          </p:nvPr>
        </p:nvGraphicFramePr>
        <p:xfrm>
          <a:off x="635757" y="2798906"/>
          <a:ext cx="10152516" cy="3133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8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8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8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09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09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m_</a:t>
                      </a:r>
                      <a:r>
                        <a:rPr lang="en-IN" sz="1600" dirty="0"/>
                        <a:t>id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4634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54498"/>
                  </a:ext>
                </a:extLst>
              </a:tr>
              <a:tr h="4634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FOREIGN KEY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325519"/>
                  </a:ext>
                </a:extLst>
              </a:tr>
              <a:tr h="4634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646758"/>
                  </a:ext>
                </a:extLst>
              </a:tr>
              <a:tr h="46342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r_date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050434"/>
                  </a:ext>
                </a:extLst>
              </a:tr>
              <a:tr h="4634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3248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C2A92A1-B1B2-DA09-0796-F4EA6D4A7F8A}"/>
              </a:ext>
            </a:extLst>
          </p:cNvPr>
          <p:cNvSpPr txBox="1"/>
          <p:nvPr/>
        </p:nvSpPr>
        <p:spPr>
          <a:xfrm>
            <a:off x="633415" y="1893983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MOVIE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Movie</a:t>
            </a:r>
            <a:r>
              <a:rPr lang="en-US" dirty="0"/>
              <a:t>’s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CDF53B-025A-D90B-0E8D-DD874E702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BFD0CD-860E-2AE0-DD7A-C14BDBF80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75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F9C0760E-C3A1-363F-1E1C-5191A35702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021345"/>
              </p:ext>
            </p:extLst>
          </p:nvPr>
        </p:nvGraphicFramePr>
        <p:xfrm>
          <a:off x="635757" y="2011668"/>
          <a:ext cx="9815516" cy="475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906061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FOREIGN KEY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m_</a:t>
                      </a:r>
                      <a:r>
                        <a:rPr lang="en-IN" sz="1600" dirty="0"/>
                        <a:t>id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FOREIGN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70034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FOREIGN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320254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u_i</a:t>
                      </a:r>
                      <a:r>
                        <a:rPr lang="en-IN" sz="1600" dirty="0"/>
                        <a:t>d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FOREIGN KEY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752662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sc_id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FOREIGN KEY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18170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no_ticket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043695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seat_no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454414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payment_type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479646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2074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4BB8A0-BCDE-2125-724D-47062CBD2C26}"/>
              </a:ext>
            </a:extLst>
          </p:cNvPr>
          <p:cNvSpPr txBox="1"/>
          <p:nvPr/>
        </p:nvSpPr>
        <p:spPr>
          <a:xfrm>
            <a:off x="633415" y="1318425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TICKET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Ticket</a:t>
            </a:r>
            <a:r>
              <a:rPr lang="en-US" dirty="0"/>
              <a:t>’s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BBAC0A-E5E8-0E3C-8FFD-DC76E9A02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A2A4DE-155E-9D53-44F1-2A2893361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30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7860B878-49C0-BF8B-BDC0-DF9D3E7EDA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1154780"/>
              </p:ext>
            </p:extLst>
          </p:nvPr>
        </p:nvGraphicFramePr>
        <p:xfrm>
          <a:off x="508748" y="2803061"/>
          <a:ext cx="9815516" cy="1621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no_seat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3737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9E577C6-80B4-FD6B-3163-08F074AD2E69}"/>
              </a:ext>
            </a:extLst>
          </p:cNvPr>
          <p:cNvSpPr txBox="1"/>
          <p:nvPr/>
        </p:nvSpPr>
        <p:spPr>
          <a:xfrm>
            <a:off x="508748" y="1908725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SCREEN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Screen</a:t>
            </a:r>
            <a:r>
              <a:rPr lang="en-US" dirty="0"/>
              <a:t>’s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FAE9A-B4B2-5C87-A055-97176DDEC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D2FDDE-B557-0C94-F754-ED7F9FF14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836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8F76E24-BF00-54F6-ACF6-2EF787B30C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0511366"/>
              </p:ext>
            </p:extLst>
          </p:nvPr>
        </p:nvGraphicFramePr>
        <p:xfrm>
          <a:off x="633415" y="2750593"/>
          <a:ext cx="9815516" cy="2519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s_date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m_</a:t>
                      </a:r>
                      <a:r>
                        <a:rPr lang="en-IN" sz="1600" dirty="0"/>
                        <a:t>Id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FOREIGN KEY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70034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FOREIGN KEY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3202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1A081B-2D0F-C696-790F-2D7E9D84862E}"/>
              </a:ext>
            </a:extLst>
          </p:cNvPr>
          <p:cNvSpPr txBox="1"/>
          <p:nvPr/>
        </p:nvSpPr>
        <p:spPr>
          <a:xfrm>
            <a:off x="633415" y="1848365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SHOW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Show</a:t>
            </a:r>
            <a:r>
              <a:rPr lang="en-US" dirty="0"/>
              <a:t>’s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FEEDCD-B0F9-1B7F-A512-A9DE35723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CC6B07-A66D-055C-BEE4-5C8A08156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08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8F76E24-BF00-54F6-ACF6-2EF787B30C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5824263"/>
              </p:ext>
            </p:extLst>
          </p:nvPr>
        </p:nvGraphicFramePr>
        <p:xfrm>
          <a:off x="633415" y="2793455"/>
          <a:ext cx="9815516" cy="2019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u_</a:t>
                      </a:r>
                      <a:r>
                        <a:rPr lang="en-IN" sz="1600" dirty="0"/>
                        <a:t>id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FOREIGN KEY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430891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q_date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1A081B-2D0F-C696-790F-2D7E9D84862E}"/>
              </a:ext>
            </a:extLst>
          </p:cNvPr>
          <p:cNvSpPr txBox="1"/>
          <p:nvPr/>
        </p:nvSpPr>
        <p:spPr>
          <a:xfrm>
            <a:off x="633415" y="1823619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QUERY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Query</a:t>
            </a:r>
            <a:r>
              <a:rPr lang="en-US" dirty="0"/>
              <a:t>’s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EAB76-9C45-CE51-CFC3-3D2AB7B6B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DD3D06-9844-250B-4590-F0C25375A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501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8F76E24-BF00-54F6-ACF6-2EF787B30C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0869711"/>
              </p:ext>
            </p:extLst>
          </p:nvPr>
        </p:nvGraphicFramePr>
        <p:xfrm>
          <a:off x="633415" y="2601283"/>
          <a:ext cx="9815516" cy="257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pay_id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/>
                        <a:t>FOREIGN KEY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/>
                        <a:t>FOREIGN KEY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714642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total_amount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448992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0697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1A081B-2D0F-C696-790F-2D7E9D84862E}"/>
              </a:ext>
            </a:extLst>
          </p:cNvPr>
          <p:cNvSpPr txBox="1"/>
          <p:nvPr/>
        </p:nvSpPr>
        <p:spPr>
          <a:xfrm>
            <a:off x="633415" y="1684021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PAYMENT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Payment’</a:t>
            </a:r>
            <a:r>
              <a:rPr lang="en-US" dirty="0"/>
              <a:t>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C8014-6B7B-A6B3-829B-0D231DA3A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F19CE-70F5-7CE3-DF44-24FE55ADE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559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8F76E24-BF00-54F6-ACF6-2EF787B30C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77"/>
              </p:ext>
            </p:extLst>
          </p:nvPr>
        </p:nvGraphicFramePr>
        <p:xfrm>
          <a:off x="633415" y="2604560"/>
          <a:ext cx="9815516" cy="257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3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FIELD</a:t>
                      </a:r>
                      <a:r>
                        <a:rPr lang="en-US" sz="1600" baseline="0" dirty="0"/>
                        <a:t>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th_id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075093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total_amount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714642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p_</a:t>
                      </a:r>
                      <a:r>
                        <a:rPr lang="en-IN" sz="1600" dirty="0"/>
                        <a:t>status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448992"/>
                  </a:ext>
                </a:extLst>
              </a:tr>
              <a:tr h="446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payment_id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9357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1A081B-2D0F-C696-790F-2D7E9D84862E}"/>
              </a:ext>
            </a:extLst>
          </p:cNvPr>
          <p:cNvSpPr txBox="1"/>
          <p:nvPr/>
        </p:nvSpPr>
        <p:spPr>
          <a:xfrm>
            <a:off x="633415" y="1680744"/>
            <a:ext cx="546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Table name: PROFIT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Description: This table will store </a:t>
            </a:r>
            <a:r>
              <a:rPr lang="en-IN" dirty="0"/>
              <a:t>Profit’</a:t>
            </a:r>
            <a:r>
              <a:rPr lang="en-US" dirty="0"/>
              <a:t>s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C525D-5795-2B04-575C-E720927ED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552C26-B804-CA39-7815-D62EB55EE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857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674EB64-D07B-2566-7981-61DEE3FF6D14}"/>
              </a:ext>
            </a:extLst>
          </p:cNvPr>
          <p:cNvSpPr txBox="1"/>
          <p:nvPr/>
        </p:nvSpPr>
        <p:spPr>
          <a:xfrm>
            <a:off x="1265694" y="1466524"/>
            <a:ext cx="9297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New times roman"/>
              </a:rPr>
              <a:t>1 SYSTEM DESIGNS OF AUTHENTICATION: SIGNUP &amp; LOGIN FORM (SCREEN LAYOUT)</a:t>
            </a:r>
            <a:endParaRPr lang="en-US" sz="2400" b="1" dirty="0">
              <a:latin typeface="New times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63996-EE45-C47F-13CC-B7B0F4D4FBCC}"/>
              </a:ext>
            </a:extLst>
          </p:cNvPr>
          <p:cNvSpPr txBox="1"/>
          <p:nvPr/>
        </p:nvSpPr>
        <p:spPr>
          <a:xfrm>
            <a:off x="1265694" y="2048039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New times roman"/>
              </a:rPr>
              <a:t>Sign-up</a:t>
            </a:r>
            <a:endParaRPr lang="en-IN" sz="1800" dirty="0">
              <a:latin typeface="New times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2E483-58C5-D650-BA22-F6E836495795}"/>
              </a:ext>
            </a:extLst>
          </p:cNvPr>
          <p:cNvSpPr txBox="1"/>
          <p:nvPr/>
        </p:nvSpPr>
        <p:spPr>
          <a:xfrm>
            <a:off x="1" y="339084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AND LOGIN FORM WITH CODING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2023A-9F20-9CFD-DE33-58E6748D2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694" y="2517036"/>
            <a:ext cx="8345892" cy="38486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5CAD14-71F0-AB4E-5FC8-2AD9B4B51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F813FC-FCDE-BA8A-9BBE-B80A2C690A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454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10B58-3DB3-D496-8ECD-34A0EE40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C37D87-1474-7D08-29D6-088811179F07}"/>
              </a:ext>
            </a:extLst>
          </p:cNvPr>
          <p:cNvSpPr txBox="1"/>
          <p:nvPr/>
        </p:nvSpPr>
        <p:spPr>
          <a:xfrm>
            <a:off x="1062319" y="1574543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 times roman"/>
              </a:rPr>
              <a:t>Log-in</a:t>
            </a:r>
            <a:endParaRPr lang="en-IN" sz="1800" dirty="0">
              <a:latin typeface="New times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7A1220-231A-50DD-516B-416221DDE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319" y="2011452"/>
            <a:ext cx="8861612" cy="40764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ABB3AD-7CE8-A4F4-86E9-57C522C9D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B7D0CD-F9F2-FF5A-3A58-BD2D7412DB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0177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8B1D8-846D-15F9-A98D-5DE398C2A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B3EEA0-6457-3C3D-7059-345E0F71D08D}"/>
              </a:ext>
            </a:extLst>
          </p:cNvPr>
          <p:cNvSpPr txBox="1"/>
          <p:nvPr/>
        </p:nvSpPr>
        <p:spPr>
          <a:xfrm>
            <a:off x="1406089" y="309282"/>
            <a:ext cx="94199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2.SYSTEM DESIGNS OF AUTHENTICATION: SIGNUP &amp; LOGIN FORM (CODING) </a:t>
            </a:r>
            <a:endParaRPr lang="en-US" sz="2000" b="1" dirty="0">
              <a:latin typeface="New times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BB4A7-4E51-2824-4C95-9763CE9DC6B0}"/>
              </a:ext>
            </a:extLst>
          </p:cNvPr>
          <p:cNvSpPr txBox="1"/>
          <p:nvPr/>
        </p:nvSpPr>
        <p:spPr>
          <a:xfrm>
            <a:off x="770332" y="1706196"/>
            <a:ext cx="99777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"en"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http-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equiv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"X-UA-Compatible"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"IE=edge"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&lt;link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="stylesheet" href="../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/style.css"&gt; --&gt;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"icon"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"image/x-icon"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"../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static_imgs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/fav.png"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"../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/styles.css"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CineWindows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| Login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"form"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SignIn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It's Free And Always Be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"error-text"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73C9A-900C-3392-96DB-440E102653DD}"/>
              </a:ext>
            </a:extLst>
          </p:cNvPr>
          <p:cNvSpPr txBox="1"/>
          <p:nvPr/>
        </p:nvSpPr>
        <p:spPr>
          <a:xfrm>
            <a:off x="1406089" y="1077215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 times roman"/>
              </a:rPr>
              <a:t>Log in</a:t>
            </a:r>
            <a:endParaRPr lang="en-IN" sz="1800" dirty="0">
              <a:latin typeface="New times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9EF802-7A75-FA9F-41CC-2D3AA21D9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B6CE28-9D4B-E2F0-E32E-754C08F2B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03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C96DDB-3BEC-F870-E663-8906216E259C}"/>
              </a:ext>
            </a:extLst>
          </p:cNvPr>
          <p:cNvSpPr txBox="1"/>
          <p:nvPr/>
        </p:nvSpPr>
        <p:spPr>
          <a:xfrm>
            <a:off x="635757" y="1379577"/>
            <a:ext cx="1115318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Error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"Enter Your Email"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"grid-details"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"pass"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SignIn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Now"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"link"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New 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? 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register.php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SignUp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Now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&lt;/a&gt;&lt;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Having Trouble? 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forget_password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fp_frontend.php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Forget Password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"../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/log_5.js"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6CC8AB-A72B-7A60-1271-DA89CF887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FD5099-8303-D713-D55D-324912CBE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65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373A4-9029-D376-11A6-B0B2883B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F1E21A-87EA-57F1-EB6B-A6F21CB45951}"/>
              </a:ext>
            </a:extLst>
          </p:cNvPr>
          <p:cNvSpPr txBox="1"/>
          <p:nvPr/>
        </p:nvSpPr>
        <p:spPr>
          <a:xfrm>
            <a:off x="770332" y="1626606"/>
            <a:ext cx="1083104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session_start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include_once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db.php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'email'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$phone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'phone'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$password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md5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'pass'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cpassword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md5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cpass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chacking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fields are not empty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!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!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!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$phone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!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$password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&amp;&amp; !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cpassword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   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//if email is valid  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filter_var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,FILTER_VALIDATE_EMAIL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   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//checking if email already present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email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email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$conn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mysqli_num_rows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~ Already Exists"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49973-3E69-6A77-D764-A097D45D5E00}"/>
              </a:ext>
            </a:extLst>
          </p:cNvPr>
          <p:cNvSpPr txBox="1"/>
          <p:nvPr/>
        </p:nvSpPr>
        <p:spPr>
          <a:xfrm>
            <a:off x="1406089" y="931440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New times roman"/>
              </a:rPr>
              <a:t>Sign-up</a:t>
            </a:r>
            <a:endParaRPr lang="en-IN" sz="1800" dirty="0">
              <a:latin typeface="New times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BAEE1A-7172-F9C9-B6EB-8F8C9CF67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F06402-93AF-252C-8957-FB2FE78FE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88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AC74A2-A660-D4E0-7C1E-F637E8FC0143}"/>
              </a:ext>
            </a:extLst>
          </p:cNvPr>
          <p:cNvSpPr txBox="1"/>
          <p:nvPr/>
        </p:nvSpPr>
        <p:spPr>
          <a:xfrm>
            <a:off x="1151860" y="86916"/>
            <a:ext cx="10623177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  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$prat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phone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phone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$phone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$prat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mysqli_num_rows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$phone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~ Already Exists"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$password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cpassword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//let us check user upload file or not 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'image'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'image'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img_typ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'image'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'image'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tmp_name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img_explode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explode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img_extension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img_explode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$extensions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png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jpg'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'jpeg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in_array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img_extension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$extensions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===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$time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newimagename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$time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$folder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'../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newimagename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move_uploaded_file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$folder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random_id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//creating a user unique id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mt_rand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1111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9999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//creating 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4 digit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01BDBC-7FA6-6F72-E1E1-3F5505F0F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492DEF-260F-A3C0-4D84-99E13A06E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514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3971A-3C23-0909-AC6B-1D9DFB777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AF101-7807-2145-6682-5F615F797618}"/>
              </a:ext>
            </a:extLst>
          </p:cNvPr>
          <p:cNvSpPr txBox="1"/>
          <p:nvPr/>
        </p:nvSpPr>
        <p:spPr>
          <a:xfrm>
            <a:off x="1259436" y="517803"/>
            <a:ext cx="10623177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$inn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user (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user_id,fname,lname,email,phone,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random_id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},'{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}','{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}','{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}','{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$phone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}','{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$password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}','{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$folder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}','{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}')"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$sql2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$inn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$sql2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$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pratham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$sql3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$conn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email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mysqli_num_rows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$sql3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mysqli_fetch_assoc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$sql3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'user_id'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'email'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'email'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//email session 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$headers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"From :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CineWindows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$receiver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$subject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CineWindows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🎥 OTP Registration : 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$body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ThankYou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For Choosing Us (:</a:t>
            </a:r>
            <a:r>
              <a:rPr lang="en-I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4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Don't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Share Your OTP With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AnyOne</a:t>
            </a:r>
            <a:r>
              <a:rPr lang="en-I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4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: 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4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: 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en-I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4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: 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4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Are Happy To Have You</a:t>
            </a:r>
            <a:r>
              <a:rPr lang="en-I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4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Made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With Love😊💕❤️"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$sender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"From : cinewindows121@gmail.com"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E40815-1001-EB6E-F212-529709236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83BA12-B7B1-0C39-8E00-A31427A37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8039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3BDD7-659D-BDE5-48D8-394F3582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3A7300-2F06-A521-B26E-4F6A614720B8}"/>
              </a:ext>
            </a:extLst>
          </p:cNvPr>
          <p:cNvSpPr txBox="1"/>
          <p:nvPr/>
        </p:nvSpPr>
        <p:spPr>
          <a:xfrm>
            <a:off x="1271514" y="181957"/>
            <a:ext cx="1062317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receiver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$subject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$body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$sender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$headers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{   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   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"Success"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"Problem"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//email end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Somthing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Went Wrong"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"something Went Wrong"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} 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"Image Extension Does Not Matched"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9E080B-8902-D684-5432-CA58B68CC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98E4D2-670D-9C45-76EF-5CC9599DA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103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EAC00-BB83-D942-CFC8-8FFF6127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D72C1E-61E4-CA08-F809-96CA086ACE91}"/>
              </a:ext>
            </a:extLst>
          </p:cNvPr>
          <p:cNvSpPr txBox="1"/>
          <p:nvPr/>
        </p:nvSpPr>
        <p:spPr>
          <a:xfrm>
            <a:off x="1259436" y="517803"/>
            <a:ext cx="1062317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"Please Select An Profile Image"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 Is Not Matching!!"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$email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~ This is Not A Valid Email"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"All Fields Are required"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endParaRPr lang="en-IN" sz="16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50B5B8-A1CC-1FA2-0A0C-A3871C61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E1761A-796D-D91C-26C4-36C8C9B92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524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6725-A85D-1CF4-6EDC-7A285E0D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F5EA89-6E81-B6AB-FA1D-E13D2B35454B}"/>
              </a:ext>
            </a:extLst>
          </p:cNvPr>
          <p:cNvSpPr txBox="1"/>
          <p:nvPr/>
        </p:nvSpPr>
        <p:spPr>
          <a:xfrm>
            <a:off x="1406088" y="309282"/>
            <a:ext cx="96877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New times roman"/>
              </a:rPr>
              <a:t>3. SYSTEM ADMINISTRATION FORM (ADD, UPDATE, DELETE)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0E5F3-AE7B-93C3-CFFC-DC525ACB3306}"/>
              </a:ext>
            </a:extLst>
          </p:cNvPr>
          <p:cNvSpPr txBox="1"/>
          <p:nvPr/>
        </p:nvSpPr>
        <p:spPr>
          <a:xfrm>
            <a:off x="859315" y="1345935"/>
            <a:ext cx="269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New times roman"/>
              </a:rPr>
              <a:t>Admin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AF924-5FA6-65D6-9C3A-148FE0640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03" y="1715267"/>
            <a:ext cx="10409320" cy="48334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B1F9C2-5063-F15B-759D-5E4B7923D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954613-3D80-781F-C035-F6DCB55F8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98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8F2B-2E04-B529-6D2B-69DC96034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C3A5FA-AD4A-37FB-9E74-10E09CC48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32" y="2126937"/>
            <a:ext cx="9516668" cy="44600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FE9124-842F-FCBD-F9CC-FBB62CE3F4E9}"/>
              </a:ext>
            </a:extLst>
          </p:cNvPr>
          <p:cNvSpPr txBox="1"/>
          <p:nvPr/>
        </p:nvSpPr>
        <p:spPr>
          <a:xfrm>
            <a:off x="770332" y="1551305"/>
            <a:ext cx="3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New times roman"/>
              </a:rPr>
              <a:t>Admin theater Service Add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EDA4A2-DE49-B796-C7D8-64EEE4C16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E32426-7F7A-E05A-1DD5-2E7D418DEA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220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752D-8490-14B1-CCDE-7FCE5A337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E8F732-C340-B120-BBEC-EEBC01087BF6}"/>
              </a:ext>
            </a:extLst>
          </p:cNvPr>
          <p:cNvSpPr txBox="1"/>
          <p:nvPr/>
        </p:nvSpPr>
        <p:spPr>
          <a:xfrm>
            <a:off x="770332" y="1524015"/>
            <a:ext cx="326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New times roman"/>
              </a:rPr>
              <a:t>Admin </a:t>
            </a:r>
            <a:r>
              <a:rPr lang="en-US" dirty="0">
                <a:latin typeface="New times roman"/>
              </a:rPr>
              <a:t>theater list </a:t>
            </a:r>
            <a:r>
              <a:rPr lang="en-US" sz="1800" dirty="0">
                <a:latin typeface="New times roman"/>
              </a:rPr>
              <a:t>Update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67A30-A028-9242-1D4F-2848E5F40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32" y="2072358"/>
            <a:ext cx="9721014" cy="45435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B4569FD-201A-FBA2-AB77-B27847EE9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BB3AEB-1004-AF2A-16BB-E63FA4C50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716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D9344-B869-7805-88B7-398FE99A2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90AAA6-922F-CE46-5B4C-043ABF31FC0D}"/>
              </a:ext>
            </a:extLst>
          </p:cNvPr>
          <p:cNvSpPr txBox="1"/>
          <p:nvPr/>
        </p:nvSpPr>
        <p:spPr>
          <a:xfrm>
            <a:off x="770332" y="1594238"/>
            <a:ext cx="3949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New times roman"/>
              </a:rPr>
              <a:t>Admin theater Service Delete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FBD3B-C044-46E1-F191-4B1296201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99" y="2141434"/>
            <a:ext cx="10067365" cy="46430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908594-EC47-B1E7-12FE-0214BF24E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10F026-A57E-C821-44C1-067A4149B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696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2DFD7-CDA2-506E-9389-81F4A5177B8B}"/>
              </a:ext>
            </a:extLst>
          </p:cNvPr>
          <p:cNvSpPr txBox="1"/>
          <p:nvPr/>
        </p:nvSpPr>
        <p:spPr>
          <a:xfrm>
            <a:off x="635757" y="1452506"/>
            <a:ext cx="11456894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Insert </a:t>
            </a:r>
          </a:p>
          <a:p>
            <a:endParaRPr lang="en-IN" sz="16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?php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cwheader.php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sqlDelete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cinema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cinema_id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$th_id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$conn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sqlDelete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location:theater.php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location:theater.php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'insert'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'th_name'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own_name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own_name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th_address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th_address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th_phone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th_phone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own_phone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own_phone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th_pass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th_pass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B34CDA-B9DE-F466-314A-337398029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54A000-E95E-E25A-70FA-A3A9E7048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958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240EA1-9789-23D6-1470-DAE75B48C04E}"/>
              </a:ext>
            </a:extLst>
          </p:cNvPr>
          <p:cNvSpPr txBox="1"/>
          <p:nvPr/>
        </p:nvSpPr>
        <p:spPr>
          <a:xfrm>
            <a:off x="635757" y="1399418"/>
            <a:ext cx="967803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//inserting image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'file'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img_typ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'file'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'file'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tmp_name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img_explode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explode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img_extension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img_explode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$extensions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png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'jpg'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'jpeg'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in_array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img_extension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$extensions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===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$time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newimagename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$time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$folder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'../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newimagename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move_uploaded_file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tmp_name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$folder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N" sz="1400" dirty="0">
              <a:solidFill>
                <a:srgbClr val="3B3B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th_img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th_img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sqlinsert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cinema</a:t>
            </a:r>
          </a:p>
          <a:p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(cinema_name,own_name,cinema_location,cinema_phone,own_phone,movie_fk)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('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$own_name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$th_address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$th_phone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$own_phone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$th_pass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')"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$conn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sqlinsert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"Location: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theater.php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"Location: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threq.php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592D2-48AE-FCB0-217E-602C9400F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7F613F-62C9-E78D-BC3E-E62D4AACA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125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A61E1-575B-A41B-D806-34C05FD5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B8007C-C944-87E4-D179-C477E3C0FD20}"/>
              </a:ext>
            </a:extLst>
          </p:cNvPr>
          <p:cNvSpPr txBox="1"/>
          <p:nvPr/>
        </p:nvSpPr>
        <p:spPr>
          <a:xfrm>
            <a:off x="635757" y="1287244"/>
            <a:ext cx="1145689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Update</a:t>
            </a:r>
            <a:r>
              <a:rPr lang="en-IN" sz="2000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endParaRPr lang="en-IN" sz="16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?php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cwheader.php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"en"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Update 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Theater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&lt;link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"cw.css"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"https://kit.fontawesome.com/61163db8e0.js"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"anonymous"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&lt;main&gt;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updatetheater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&lt;h5&gt;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Details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&lt;/h5&gt;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sqlupdate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cinema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cinema_id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$id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$result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$conn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sqlupdate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9C9D7A-B906-2459-4AB7-7F1A0B9F7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141A77-C164-591B-AF81-4C095E64C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68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6FF92-C413-6246-13CE-29BEDAF05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71EA54-0757-0903-DEFE-BB6DE8475EA7}"/>
              </a:ext>
            </a:extLst>
          </p:cNvPr>
          <p:cNvSpPr txBox="1"/>
          <p:nvPr/>
        </p:nvSpPr>
        <p:spPr>
          <a:xfrm>
            <a:off x="770331" y="1493548"/>
            <a:ext cx="967803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$result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die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"query Failed"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mysqli_error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mysqli_fetch_assoc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$result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thupdate.php?id_new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enctype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"multipart/form-data"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"show"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lable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Theater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lable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cinema_name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"th_name"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dirty="0">
                <a:solidFill>
                  <a:srgbClr val="3B3B3B"/>
                </a:solidFill>
                <a:latin typeface="Consolas" panose="020B0609020204030204" pitchFamily="49" charset="0"/>
              </a:rPr>
              <a:t>  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"show"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lable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Owner 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lable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own_name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own_name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"show"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lable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Address: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lable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cinema_location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th_address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319F24-2BF9-6E2E-2958-1AA125F2A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152087-D28A-89FB-AF7C-75F2098EC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537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09BD-32B9-2521-5AB6-00A1D424A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89B257-E537-9F04-D6BB-50B779DC8310}"/>
              </a:ext>
            </a:extLst>
          </p:cNvPr>
          <p:cNvSpPr txBox="1"/>
          <p:nvPr/>
        </p:nvSpPr>
        <p:spPr>
          <a:xfrm>
            <a:off x="770332" y="1429197"/>
            <a:ext cx="1052519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thupdate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id_new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 {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id_new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id_new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'th_name'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own_name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own_name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th_address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th_address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th_phone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th_phone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own_phone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own_phone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//image insert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'file'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img_typ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'file'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tmp_name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$_FILES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'file'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tmp_name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img_explode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explode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img_extension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img_explode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$extensions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png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'jpg'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'jpeg'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webp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42CB0A-09FE-2670-2922-62BDE60C1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16356D-8E52-E5E3-253C-7A918923E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512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EBB0-C238-57B0-7448-1BE46F94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20480D-AB73-47BD-612C-9F52BA260328}"/>
              </a:ext>
            </a:extLst>
          </p:cNvPr>
          <p:cNvSpPr txBox="1"/>
          <p:nvPr/>
        </p:nvSpPr>
        <p:spPr>
          <a:xfrm>
            <a:off x="770332" y="1429197"/>
            <a:ext cx="10525197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in_array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img_extension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$extensions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$time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newimagename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$time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img_name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$folder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'../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newimagename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move_uploaded_file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tmp_name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$folder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cinema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cinema_name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$th_name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 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own_name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own_name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 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cinema_location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$th_address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cinema_phone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$th_phone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own_phone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own_phone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,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cinema_img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$folder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cinema_id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id_new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$conn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"Location: 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theater.php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"Location: 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thupdate.php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&lt;/main&gt;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1A6110-06DB-01B6-8F79-FAD566727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5C2C6C-4764-409C-87DD-E89D7C181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279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949B-D125-124E-507F-24397B889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82BF0A-D70E-F84D-8C96-8B442AE4EB1E}"/>
              </a:ext>
            </a:extLst>
          </p:cNvPr>
          <p:cNvSpPr txBox="1"/>
          <p:nvPr/>
        </p:nvSpPr>
        <p:spPr>
          <a:xfrm>
            <a:off x="770332" y="1346985"/>
            <a:ext cx="269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 times roman"/>
              </a:rPr>
              <a:t>theate</a:t>
            </a:r>
            <a:r>
              <a:rPr lang="en-US" sz="1800" dirty="0">
                <a:latin typeface="New times roman"/>
              </a:rPr>
              <a:t>r owner movie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7E348-DC04-C688-D303-63FFABAD8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32" y="1828746"/>
            <a:ext cx="10189447" cy="47292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A7A905-886F-C406-3C9E-B6B4F84E0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D0164B-297A-476E-64D7-D239EF971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761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1D7E5-B5A9-71F0-C096-45883A824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879A54-418C-59E4-F781-EE1C40DAFC28}"/>
              </a:ext>
            </a:extLst>
          </p:cNvPr>
          <p:cNvSpPr txBox="1"/>
          <p:nvPr/>
        </p:nvSpPr>
        <p:spPr>
          <a:xfrm>
            <a:off x="770332" y="1346985"/>
            <a:ext cx="3815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 times roman"/>
              </a:rPr>
              <a:t>theate</a:t>
            </a:r>
            <a:r>
              <a:rPr lang="en-US" sz="1800" dirty="0">
                <a:latin typeface="New times roman"/>
              </a:rPr>
              <a:t>r owner add movie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AF79B2-10A8-3C04-30DF-CEB4E87C6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32" y="1773467"/>
            <a:ext cx="10448925" cy="48190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B8FD87-0295-36E8-C791-444293D92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6F09AF-8A0D-98BC-652C-5155DAC96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205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C84D8-6E99-156E-7D08-861C4682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152CE4-0598-4FB1-105C-9E8006B5A932}"/>
              </a:ext>
            </a:extLst>
          </p:cNvPr>
          <p:cNvSpPr txBox="1"/>
          <p:nvPr/>
        </p:nvSpPr>
        <p:spPr>
          <a:xfrm>
            <a:off x="770332" y="1346985"/>
            <a:ext cx="361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 times roman"/>
              </a:rPr>
              <a:t>theate</a:t>
            </a:r>
            <a:r>
              <a:rPr lang="en-US" sz="1800" dirty="0">
                <a:latin typeface="New times roman"/>
              </a:rPr>
              <a:t>r owner delete movie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82360-6838-DA68-7EF4-58F7CFC16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32" y="1828746"/>
            <a:ext cx="10189447" cy="47292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4D94359-39BC-E8E6-B509-D7C4924B7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FF0656-FE18-0421-4893-1CBFCB8BD2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882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9713-D43F-D652-AD4B-AEC881D6C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C7A976-BCC4-599F-C6A4-CD0BEE8AD1C1}"/>
              </a:ext>
            </a:extLst>
          </p:cNvPr>
          <p:cNvSpPr txBox="1"/>
          <p:nvPr/>
        </p:nvSpPr>
        <p:spPr>
          <a:xfrm>
            <a:off x="735106" y="1345005"/>
            <a:ext cx="1145689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'cwheader.php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"en"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&lt;meta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"https://kit.fontawesome.com/61163db8e0.js"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"anonymous"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&gt;&lt;/script&gt;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"cw.css"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&lt;main&gt;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"forms"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insertform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</a:t>
            </a:r>
            <a:endParaRPr lang="en-IN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17EDA5-3464-063C-FEE5-902F49F97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85D4BE-DFC5-EF54-63C7-79E013E3D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79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D26A-4E72-3B46-15ED-30794C677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D3B0BF-E6CD-9FBA-3095-EB9671428826}"/>
              </a:ext>
            </a:extLst>
          </p:cNvPr>
          <p:cNvSpPr txBox="1"/>
          <p:nvPr/>
        </p:nvSpPr>
        <p:spPr>
          <a:xfrm>
            <a:off x="770331" y="1493548"/>
            <a:ext cx="967803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&lt;h5&gt;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Movie Details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&lt;/h5&gt;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movieinsert.php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Movie Name: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movie_name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fieldinput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Theater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Id: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"th_id"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Release Date: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"date"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"r_date"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</a:t>
            </a:r>
            <a:endParaRPr lang="en-IN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F8E750-682F-F829-64E1-5EF7A837E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BF11A-FA18-28EA-5919-056B19D23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3544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6A842-139A-A8DF-50AE-E9A34F78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FB4DD4-7ED2-F8A3-6A73-47F551842B58}"/>
              </a:ext>
            </a:extLst>
          </p:cNvPr>
          <p:cNvSpPr txBox="1"/>
          <p:nvPr/>
        </p:nvSpPr>
        <p:spPr>
          <a:xfrm>
            <a:off x="770331" y="1493548"/>
            <a:ext cx="967803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fieldinput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Description: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"description"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decimbox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Image: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"file"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movie_img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"insert"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insertbtn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&lt;/main&gt;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IN" sz="16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4F00A3-3ABA-62A1-B0D4-CE0666257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E08E3F-CCB7-8E1F-C4F9-18746AEB1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638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9EDB2-EC08-D798-5943-6068B14F8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2FA368E-5823-05AA-F91B-B91E4E8E08F8}"/>
              </a:ext>
            </a:extLst>
          </p:cNvPr>
          <p:cNvSpPr txBox="1"/>
          <p:nvPr/>
        </p:nvSpPr>
        <p:spPr>
          <a:xfrm>
            <a:off x="1406088" y="309282"/>
            <a:ext cx="10252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4.SYSTEM ADMINISTRATION FORM (SEARCHING)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5D963-5205-5188-4CF9-FCF86F7B88A9}"/>
              </a:ext>
            </a:extLst>
          </p:cNvPr>
          <p:cNvSpPr txBox="1"/>
          <p:nvPr/>
        </p:nvSpPr>
        <p:spPr>
          <a:xfrm>
            <a:off x="770332" y="1580796"/>
            <a:ext cx="3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New times roman"/>
              </a:rPr>
              <a:t>Admin theater Service search bar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AF96FD-912F-0C99-A109-29B7D2949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32" y="2126937"/>
            <a:ext cx="9857150" cy="45422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67F94E-E165-3EC7-9D32-4027D6FD7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AF5B83-A4C5-3937-A49E-F715BFC08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101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9A99-181E-BB52-E709-4A0E48BFD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CF510F-DC9F-A677-EE1A-E291CA7452DD}"/>
              </a:ext>
            </a:extLst>
          </p:cNvPr>
          <p:cNvSpPr txBox="1"/>
          <p:nvPr/>
        </p:nvSpPr>
        <p:spPr>
          <a:xfrm>
            <a:off x="770332" y="1346985"/>
            <a:ext cx="3815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 times roman"/>
              </a:rPr>
              <a:t>theate</a:t>
            </a:r>
            <a:r>
              <a:rPr lang="en-US" sz="1800" dirty="0">
                <a:latin typeface="New times roman"/>
              </a:rPr>
              <a:t>r owner search bar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C51079-C089-2945-D54A-B5DA3AB11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32" y="1871695"/>
            <a:ext cx="10082128" cy="46862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21600B-13E7-1E48-B7D6-303E5B4E3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755FBC-E33F-2DC4-A942-8FCF1123A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0573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09B3-30CB-AB51-C73B-F4F0D8959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73550C-FB68-A3B0-3AF3-EE140EAC927D}"/>
              </a:ext>
            </a:extLst>
          </p:cNvPr>
          <p:cNvSpPr txBox="1"/>
          <p:nvPr/>
        </p:nvSpPr>
        <p:spPr>
          <a:xfrm>
            <a:off x="735106" y="1345005"/>
            <a:ext cx="11456894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textvalue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"search"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"table"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getElementsByTagName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getElementsByTagName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"td"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textvalue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textContent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textvalue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"none"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IN" sz="1400" b="0" dirty="0">
              <a:solidFill>
                <a:srgbClr val="3B3B3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C3DEEB-00C8-131F-0FB4-AC0B1DE99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0A87B3-F282-D064-09A8-1CEB33B87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936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C2FBC-3C75-6908-2C76-35DA4C3BC7E6}"/>
              </a:ext>
            </a:extLst>
          </p:cNvPr>
          <p:cNvSpPr txBox="1"/>
          <p:nvPr/>
        </p:nvSpPr>
        <p:spPr>
          <a:xfrm>
            <a:off x="770332" y="1495601"/>
            <a:ext cx="96914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thsearch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textvalue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"search"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"table"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getElementsByTagName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getElementsByTagName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"td"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textvalue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textContent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textvalue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{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"none"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020D7E-91EA-1C89-C151-4C314023A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33EBEB-3C8E-87AB-18D3-9E89C166C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9894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9EDB2-EC08-D798-5943-6068B14F8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2FA368E-5823-05AA-F91B-B91E4E8E08F8}"/>
              </a:ext>
            </a:extLst>
          </p:cNvPr>
          <p:cNvSpPr txBox="1"/>
          <p:nvPr/>
        </p:nvSpPr>
        <p:spPr>
          <a:xfrm>
            <a:off x="1406088" y="309282"/>
            <a:ext cx="10252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egoe UI" panose="020B0502040204020203" pitchFamily="34" charset="0"/>
              </a:rPr>
              <a:t>5. SYSTEM REPORT GENERATION</a:t>
            </a:r>
            <a:endParaRPr lang="en-IN" sz="1800" b="1" dirty="0">
              <a:solidFill>
                <a:srgbClr val="111111"/>
              </a:solidFill>
              <a:effectLst/>
              <a:latin typeface="Bookman Old Style" panose="02050604050505020204" pitchFamily="18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5D963-5205-5188-4CF9-FCF86F7B88A9}"/>
              </a:ext>
            </a:extLst>
          </p:cNvPr>
          <p:cNvSpPr txBox="1"/>
          <p:nvPr/>
        </p:nvSpPr>
        <p:spPr>
          <a:xfrm>
            <a:off x="837568" y="1396130"/>
            <a:ext cx="3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New times roman"/>
              </a:rPr>
              <a:t>Report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67F94E-E165-3EC7-9D32-4027D6FD7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AF5B83-A4C5-3937-A49E-F715BFC08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A58E38-FEE4-02B1-0F9E-3F655F363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67" y="1989030"/>
            <a:ext cx="8212303" cy="461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9589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51C3-1764-7B7F-2565-5ADC03B09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E865DC-3C4A-E125-32A7-21DDBAC1D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57" y="1930770"/>
            <a:ext cx="8861612" cy="40764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6828E4C-43C0-3BD2-1845-3F7B7684A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975372-D22F-613D-B540-A8B0AED915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863AC6-EEB7-1BBB-2690-C8B09ECE540C}"/>
              </a:ext>
            </a:extLst>
          </p:cNvPr>
          <p:cNvSpPr txBox="1"/>
          <p:nvPr/>
        </p:nvSpPr>
        <p:spPr>
          <a:xfrm>
            <a:off x="1271514" y="335069"/>
            <a:ext cx="10018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SYSTEM VALIDATIONS:  VALIDATIONS FOR VARIOUS LEVEL</a:t>
            </a:r>
          </a:p>
        </p:txBody>
      </p:sp>
    </p:spTree>
    <p:extLst>
      <p:ext uri="{BB962C8B-B14F-4D97-AF65-F5344CB8AC3E}">
        <p14:creationId xmlns:p14="http://schemas.microsoft.com/office/powerpoint/2010/main" val="25949311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EE395-5535-F47A-FF07-94C8ABAF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13EC18-06F0-FF35-B077-C6F498DB20FB}"/>
              </a:ext>
            </a:extLst>
          </p:cNvPr>
          <p:cNvSpPr txBox="1"/>
          <p:nvPr/>
        </p:nvSpPr>
        <p:spPr>
          <a:xfrm>
            <a:off x="770332" y="1495601"/>
            <a:ext cx="9691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)){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"location: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login.php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09936D-7A85-8760-128C-2FD20A7C0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41A20E-A6AE-C538-7AD5-E5EC88E2B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BEBE23-E52B-B290-14A9-BBDBF01B81FB}"/>
              </a:ext>
            </a:extLst>
          </p:cNvPr>
          <p:cNvSpPr txBox="1"/>
          <p:nvPr/>
        </p:nvSpPr>
        <p:spPr>
          <a:xfrm>
            <a:off x="770332" y="3725759"/>
            <a:ext cx="61049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//username variables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'user_id'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)){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"location: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index.php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5554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DBA7F-0799-0308-F3D8-7F1BB2C8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A7A9CF-BA5E-AA8D-BCDC-EDCD00EA3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DD0282-E0AC-A047-E44E-76159B1BA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027CFE-9223-F382-489E-5C46E261D3B8}"/>
              </a:ext>
            </a:extLst>
          </p:cNvPr>
          <p:cNvSpPr txBox="1"/>
          <p:nvPr/>
        </p:nvSpPr>
        <p:spPr>
          <a:xfrm>
            <a:off x="1327423" y="346220"/>
            <a:ext cx="96877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MISC. FEATURES (OTP)</a:t>
            </a:r>
          </a:p>
          <a:p>
            <a:endParaRPr lang="en-US" sz="2000" b="1" dirty="0">
              <a:latin typeface="New times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7C33CD-9967-101A-1F45-1187197F6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40" y="1584157"/>
            <a:ext cx="9530219" cy="49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5821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F7DF9-5406-2AAA-FD0E-2BFF56B3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C04603-00CA-69E1-8F8A-3431EF3ED271}"/>
              </a:ext>
            </a:extLst>
          </p:cNvPr>
          <p:cNvSpPr txBox="1"/>
          <p:nvPr/>
        </p:nvSpPr>
        <p:spPr>
          <a:xfrm>
            <a:off x="635757" y="1184875"/>
            <a:ext cx="1115318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&lt;?php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include_once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db.php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session_start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$otp1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'otp1'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$otp2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'otp2'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$otp3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'otp3'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$otp4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'otp4'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session_otp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$otp1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$otp2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$otp3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$otp4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   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//matching 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session_otp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user_id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 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$op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//if matched 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mysqli_num_rows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null_otp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$update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user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verify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'1' ,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null_otp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user_id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}' 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$sql2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=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$update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D421F3-EDA0-0C24-6AEB-FB405D505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F0CBEF-9884-EB08-DA0E-DF1950D58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863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F6D9-BA1B-8433-2D5C-FB72DFFE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FE8399-6804-608C-923D-891457CB3BF6}"/>
              </a:ext>
            </a:extLst>
          </p:cNvPr>
          <p:cNvSpPr txBox="1"/>
          <p:nvPr/>
        </p:nvSpPr>
        <p:spPr>
          <a:xfrm>
            <a:off x="635757" y="102106"/>
            <a:ext cx="11153185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$sql2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mysqli_fetch_assoc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$receiver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'email'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$subject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CineWindows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🎥 ,Account Verified!!"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$body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ThankYou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For Choosing Us, </a:t>
            </a:r>
            <a:r>
              <a:rPr lang="en-I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4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To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Cinewindow's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Family</a:t>
            </a:r>
            <a:r>
              <a:rPr lang="en-IN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N" sz="1400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Made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With Love❤️💕😊"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$sender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"From : cinewindows121@gmail.com"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receiver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$subject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$body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$sender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unique_id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'user_id'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$_SESSION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verification_status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'verify'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"Success"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 Internet Connection!!😔"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}   }}</a:t>
            </a: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"O.T.P Not Matched"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Otp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7C875A-31AE-07B1-DE6D-D42113342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5499C6-E726-F06D-60CB-7BE35C112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180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DBA7F-0799-0308-F3D8-7F1BB2C8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A7A9CF-BA5E-AA8D-BCDC-EDCD00EA3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DD0282-E0AC-A047-E44E-76159B1BA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B06CF7-6A75-6620-B3B0-88778C0B2F32}"/>
              </a:ext>
            </a:extLst>
          </p:cNvPr>
          <p:cNvSpPr txBox="1"/>
          <p:nvPr/>
        </p:nvSpPr>
        <p:spPr>
          <a:xfrm>
            <a:off x="1436594" y="322369"/>
            <a:ext cx="9318811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800" b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egoe UI" panose="020B0502040204020203" pitchFamily="34" charset="0"/>
              </a:rPr>
              <a:t>WORDPRESS</a:t>
            </a:r>
            <a:endParaRPr lang="en-IN" sz="1800" b="1" dirty="0">
              <a:solidFill>
                <a:srgbClr val="111111"/>
              </a:solidFill>
              <a:effectLst/>
              <a:latin typeface="Bookman Old Style" panose="02050604050505020204" pitchFamily="18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BC3C8-AD9B-BF58-7CA1-FD0D3BD12A3C}"/>
              </a:ext>
            </a:extLst>
          </p:cNvPr>
          <p:cNvSpPr txBox="1"/>
          <p:nvPr/>
        </p:nvSpPr>
        <p:spPr>
          <a:xfrm>
            <a:off x="635757" y="1271514"/>
            <a:ext cx="6104964" cy="460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egoe UI" panose="020B0502040204020203" pitchFamily="34" charset="0"/>
              </a:rPr>
              <a:t>1 LOGIN</a:t>
            </a:r>
            <a:endParaRPr lang="en-IN" sz="1800" dirty="0">
              <a:solidFill>
                <a:srgbClr val="111111"/>
              </a:solidFill>
              <a:effectLst/>
              <a:latin typeface="Bookman Old Style" panose="02050604050505020204" pitchFamily="18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A579D0-4B98-EDE8-2E80-8E9992F4D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60" y="1996381"/>
            <a:ext cx="6343781" cy="388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237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A2625E-9778-BEB5-C229-52F457A5D60A}"/>
              </a:ext>
            </a:extLst>
          </p:cNvPr>
          <p:cNvSpPr txBox="1"/>
          <p:nvPr/>
        </p:nvSpPr>
        <p:spPr>
          <a:xfrm>
            <a:off x="635757" y="1271514"/>
            <a:ext cx="6098240" cy="460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egoe UI" panose="020B0502040204020203" pitchFamily="34" charset="0"/>
              </a:rPr>
              <a:t>2 DASHBOARDS</a:t>
            </a:r>
            <a:endParaRPr lang="en-IN" sz="1800" dirty="0">
              <a:solidFill>
                <a:srgbClr val="111111"/>
              </a:solidFill>
              <a:effectLst/>
              <a:latin typeface="Bookman Old Style" panose="02050604050505020204" pitchFamily="18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3A1A84-BB09-550B-4480-F48370968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EBD0A5-E8CC-2FF3-46DF-643025403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FAE50-D4CE-CB25-EDAF-E1AA7F887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57" y="1986597"/>
            <a:ext cx="8185514" cy="379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476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A2625E-9778-BEB5-C229-52F457A5D60A}"/>
              </a:ext>
            </a:extLst>
          </p:cNvPr>
          <p:cNvSpPr txBox="1"/>
          <p:nvPr/>
        </p:nvSpPr>
        <p:spPr>
          <a:xfrm>
            <a:off x="635757" y="1271514"/>
            <a:ext cx="6098240" cy="460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egoe UI" panose="020B0502040204020203" pitchFamily="34" charset="0"/>
              </a:rPr>
              <a:t>3. HOME PAGE</a:t>
            </a:r>
            <a:endParaRPr lang="en-IN" sz="1800" dirty="0">
              <a:solidFill>
                <a:srgbClr val="111111"/>
              </a:solidFill>
              <a:effectLst/>
              <a:latin typeface="Bookman Old Style" panose="02050604050505020204" pitchFamily="18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3A1A84-BB09-550B-4480-F48370968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71514" cy="1271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EBD0A5-E8CC-2FF3-46DF-643025403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158" y="0"/>
            <a:ext cx="1188842" cy="11980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EF9998-6D41-E955-178D-10B36A015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89" y="1734205"/>
            <a:ext cx="6098240" cy="2611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4AC0D6-D97A-5A1B-DBD7-0FD3879798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19" y="4199874"/>
            <a:ext cx="6112958" cy="235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94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1317</TotalTime>
  <Words>5803</Words>
  <Application>Microsoft Office PowerPoint</Application>
  <PresentationFormat>Widescreen</PresentationFormat>
  <Paragraphs>1004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9" baseType="lpstr">
      <vt:lpstr>Akaya Telivigala</vt:lpstr>
      <vt:lpstr>Alice</vt:lpstr>
      <vt:lpstr>Alike</vt:lpstr>
      <vt:lpstr>Arial</vt:lpstr>
      <vt:lpstr>Arial Rounded MT Bold</vt:lpstr>
      <vt:lpstr>Baloo Chettan 2</vt:lpstr>
      <vt:lpstr>Bellefair</vt:lpstr>
      <vt:lpstr>Bookman Old Style</vt:lpstr>
      <vt:lpstr>Calibri</vt:lpstr>
      <vt:lpstr>Calibri Light</vt:lpstr>
      <vt:lpstr>Calistoga</vt:lpstr>
      <vt:lpstr>Consolas</vt:lpstr>
      <vt:lpstr>New times roman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INTRODUCTION   </vt:lpstr>
      <vt:lpstr>AIM </vt:lpstr>
      <vt:lpstr>PowerPoint Presentation</vt:lpstr>
      <vt:lpstr>PowerPoint Presentation</vt:lpstr>
      <vt:lpstr>ROLE OF USER </vt:lpstr>
      <vt:lpstr>PowerPoint Presentation</vt:lpstr>
      <vt:lpstr>PowerPoint Presentation</vt:lpstr>
      <vt:lpstr>ROLE OF ADMIN </vt:lpstr>
      <vt:lpstr>ROLE OF THEATRE OWNER</vt:lpstr>
      <vt:lpstr>PowerPoint Presentation</vt:lpstr>
      <vt:lpstr>ALOGRITHM OF USER</vt:lpstr>
      <vt:lpstr>PowerPoint Presentation</vt:lpstr>
      <vt:lpstr>ALGORITHM OF ADMIN</vt:lpstr>
      <vt:lpstr>ALGORITHM OF THEATRE OWNER </vt:lpstr>
      <vt:lpstr>PowerPoint Presentation</vt:lpstr>
      <vt:lpstr>FLOWCHART</vt:lpstr>
      <vt:lpstr> LAYOUT OF CUSTOMERS</vt:lpstr>
      <vt:lpstr>2. SIGN-UPS: </vt:lpstr>
      <vt:lpstr>3. FORGET PASSWORD:</vt:lpstr>
      <vt:lpstr>4. HOME PAGE:</vt:lpstr>
      <vt:lpstr>5.  SEARCH: </vt:lpstr>
      <vt:lpstr>6. THEATRE SELECTION: </vt:lpstr>
      <vt:lpstr>7. MOVIE PAGE: </vt:lpstr>
      <vt:lpstr>8. SEAT SELECTION: </vt:lpstr>
      <vt:lpstr>9. INVOICE:</vt:lpstr>
      <vt:lpstr>10. PAYMENT OPTION:</vt:lpstr>
      <vt:lpstr>LAYOUT OF THEATRE OWNER: </vt:lpstr>
      <vt:lpstr>2.THEATER REGISTATION:</vt:lpstr>
      <vt:lpstr>3. HOME PAGE: </vt:lpstr>
      <vt:lpstr>4. ADD MOVIE: </vt:lpstr>
      <vt:lpstr>5. ADD SHOW: </vt:lpstr>
      <vt:lpstr>LAYOUT OF ADMIN: </vt:lpstr>
      <vt:lpstr>2. HOME PAGE:</vt:lpstr>
      <vt:lpstr>3. THEATRE REQUESTS:</vt:lpstr>
      <vt:lpstr>4. ADD THEATRE: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Kishan Bhatt</dc:creator>
  <cp:lastModifiedBy>Kishan Bhatt</cp:lastModifiedBy>
  <cp:revision>238</cp:revision>
  <dcterms:created xsi:type="dcterms:W3CDTF">2023-03-02T18:03:23Z</dcterms:created>
  <dcterms:modified xsi:type="dcterms:W3CDTF">2024-04-12T03:33:35Z</dcterms:modified>
</cp:coreProperties>
</file>